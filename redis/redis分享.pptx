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66" r:id="rId3"/>
    <p:sldId id="257" r:id="rId4"/>
    <p:sldId id="258" r:id="rId5"/>
    <p:sldId id="259" r:id="rId6"/>
    <p:sldId id="260" r:id="rId7"/>
    <p:sldId id="267" r:id="rId8"/>
    <p:sldId id="268" r:id="rId9"/>
    <p:sldId id="282" r:id="rId10"/>
    <p:sldId id="283" r:id="rId11"/>
    <p:sldId id="284" r:id="rId12"/>
    <p:sldId id="263" r:id="rId13"/>
    <p:sldId id="265" r:id="rId14"/>
    <p:sldId id="292" r:id="rId15"/>
    <p:sldId id="293" r:id="rId16"/>
    <p:sldId id="294" r:id="rId17"/>
    <p:sldId id="295" r:id="rId18"/>
    <p:sldId id="297" r:id="rId19"/>
    <p:sldId id="296" r:id="rId20"/>
    <p:sldId id="298" r:id="rId21"/>
    <p:sldId id="290" r:id="rId22"/>
    <p:sldId id="273" r:id="rId23"/>
    <p:sldId id="279" r:id="rId24"/>
    <p:sldId id="281" r:id="rId25"/>
    <p:sldId id="288" r:id="rId26"/>
    <p:sldId id="289" r:id="rId27"/>
    <p:sldId id="269" r:id="rId28"/>
    <p:sldId id="270" r:id="rId29"/>
    <p:sldId id="291" r:id="rId30"/>
    <p:sldId id="271" r:id="rId31"/>
    <p:sldId id="280" r:id="rId32"/>
    <p:sldId id="272" r:id="rId33"/>
    <p:sldId id="278" r:id="rId34"/>
    <p:sldId id="274" r:id="rId35"/>
    <p:sldId id="276" r:id="rId36"/>
    <p:sldId id="285" r:id="rId37"/>
    <p:sldId id="286" r:id="rId38"/>
    <p:sldId id="287" r:id="rId3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77469" autoAdjust="0"/>
  </p:normalViewPr>
  <p:slideViewPr>
    <p:cSldViewPr>
      <p:cViewPr>
        <p:scale>
          <a:sx n="87" d="100"/>
          <a:sy n="87" d="100"/>
        </p:scale>
        <p:origin x="2360" y="1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FC038-C061-45F2-8F77-33FB5AE93C97}" type="datetimeFigureOut">
              <a:rPr lang="zh-CN" altLang="en-US" smtClean="0"/>
              <a:pPr/>
              <a:t>2018/3/23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891E2-A387-4BB6-98F3-AB1911FCECE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3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dis.cn/commands/watch.html" TargetMode="External"/><Relationship Id="rId4" Type="http://schemas.openxmlformats.org/officeDocument/2006/relationships/hyperlink" Target="http://www.redis.cn/commands/exec.html" TargetMode="External"/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Zscore</a:t>
            </a:r>
            <a:r>
              <a:rPr lang="zh-CN" altLang="en-US" dirty="0" smtClean="0"/>
              <a:t>返回集合中的分值</a:t>
            </a:r>
            <a:endParaRPr lang="en-US" altLang="zh-CN" dirty="0" smtClean="0"/>
          </a:p>
          <a:p>
            <a:r>
              <a:rPr lang="en-US" altLang="zh-CN" dirty="0" err="1" smtClean="0"/>
              <a:t>Zrank</a:t>
            </a:r>
            <a:r>
              <a:rPr lang="zh-CN" altLang="en-US" dirty="0" smtClean="0"/>
              <a:t>返回集合中的排名</a:t>
            </a:r>
            <a:endParaRPr lang="en-US" altLang="zh-CN" dirty="0" smtClean="0"/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计算给定的一个或多个有序集的交集，其中给定 </a:t>
            </a:r>
            <a:r>
              <a:rPr lang="en-US" altLang="zh-CN" dirty="0" smtClean="0"/>
              <a:t>key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的数量必须以 </a:t>
            </a:r>
            <a:r>
              <a:rPr lang="en-US" altLang="zh-CN" dirty="0" err="1" smtClean="0"/>
              <a:t>numkeys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参数指定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891E2-A387-4BB6-98F3-AB1911FCECE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023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通过使用 </a:t>
            </a:r>
            <a:r>
              <a:rPr lang="en-US" altLang="zh-CN" dirty="0" smtClean="0"/>
              <a:t>BY </a:t>
            </a:r>
            <a:r>
              <a:rPr lang="zh-CN" altLang="en-US" dirty="0" smtClean="0"/>
              <a:t>选项，可以让 </a:t>
            </a:r>
            <a:r>
              <a:rPr lang="en-US" altLang="zh-CN" dirty="0" err="1" smtClean="0"/>
              <a:t>uid</a:t>
            </a:r>
            <a:r>
              <a:rPr lang="en-US" altLang="zh-CN" dirty="0" smtClean="0"/>
              <a:t> </a:t>
            </a:r>
            <a:r>
              <a:rPr lang="zh-CN" altLang="en-US" dirty="0" smtClean="0"/>
              <a:t>按其他键的元素来排序。</a:t>
            </a:r>
            <a:endParaRPr lang="en-US" dirty="0" smtClean="0"/>
          </a:p>
          <a:p>
            <a:r>
              <a:rPr lang="zh-CN" altLang="en-US" dirty="0" smtClean="0"/>
              <a:t>使用 </a:t>
            </a:r>
            <a:r>
              <a:rPr lang="en-US" altLang="zh-CN" dirty="0" smtClean="0"/>
              <a:t>GET </a:t>
            </a:r>
            <a:r>
              <a:rPr lang="zh-CN" altLang="en-US" dirty="0" smtClean="0"/>
              <a:t>选项， 可以根据排序的结果来取出相应的键值。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 smtClean="0"/>
              <a:t>SORT</a:t>
            </a:r>
            <a:r>
              <a:rPr lang="en-US" baseline="0" dirty="0" smtClean="0"/>
              <a:t> name</a:t>
            </a:r>
            <a:r>
              <a:rPr lang="en-US" dirty="0" smtClean="0"/>
              <a:t> BY </a:t>
            </a:r>
            <a:r>
              <a:rPr lang="en-US" dirty="0" err="1" smtClean="0"/>
              <a:t>user_level</a:t>
            </a:r>
            <a:r>
              <a:rPr lang="en-US" dirty="0" smtClean="0"/>
              <a:t>_*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 smtClean="0"/>
              <a:t>Sort</a:t>
            </a:r>
            <a:r>
              <a:rPr lang="en-US" baseline="0" dirty="0" smtClean="0"/>
              <a:t> name get </a:t>
            </a:r>
            <a:r>
              <a:rPr lang="en-US" baseline="0" dirty="0" err="1" smtClean="0"/>
              <a:t>user_level</a:t>
            </a:r>
            <a:r>
              <a:rPr lang="en-US" baseline="0" dirty="0" smtClean="0"/>
              <a:t>_*</a:t>
            </a:r>
            <a:endParaRPr lang="en-US" dirty="0" smtClean="0"/>
          </a:p>
          <a:p>
            <a:endParaRPr lang="en-US" altLang="zh-CN" dirty="0" smtClean="0"/>
          </a:p>
          <a:p>
            <a:r>
              <a:rPr lang="en-US" dirty="0" smtClean="0"/>
              <a:t>HMSET user_info_1 name admin level 9999</a:t>
            </a:r>
            <a:endParaRPr lang="en-US" altLang="zh-CN" dirty="0" smtClean="0"/>
          </a:p>
          <a:p>
            <a:r>
              <a:rPr lang="en-US" dirty="0" smtClean="0"/>
              <a:t>SORT </a:t>
            </a:r>
            <a:r>
              <a:rPr lang="en-US" dirty="0" err="1" smtClean="0"/>
              <a:t>uid</a:t>
            </a:r>
            <a:r>
              <a:rPr lang="en-US" dirty="0" smtClean="0"/>
              <a:t> BY </a:t>
            </a:r>
            <a:r>
              <a:rPr lang="en-US" dirty="0" err="1" smtClean="0"/>
              <a:t>user_info</a:t>
            </a:r>
            <a:r>
              <a:rPr lang="en-US" dirty="0" smtClean="0"/>
              <a:t>_*-&gt;level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891E2-A387-4BB6-98F3-AB1911FCECE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827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 smtClean="0"/>
              <a:t>连接会进入一个事务上下文，该连接后续的命令并不是立即执行，而是先放到一 个队列中。当从此连接受到</a:t>
            </a:r>
            <a:r>
              <a:rPr lang="en-US" altLang="zh-CN" dirty="0" smtClean="0"/>
              <a:t>exec</a:t>
            </a:r>
            <a:r>
              <a:rPr lang="zh-CN" altLang="en-US" dirty="0" smtClean="0"/>
              <a:t>命令后，</a:t>
            </a:r>
            <a:r>
              <a:rPr lang="en-US" altLang="zh-CN" dirty="0" err="1" smtClean="0"/>
              <a:t>redis</a:t>
            </a:r>
            <a:r>
              <a:rPr lang="zh-CN" altLang="en-US" dirty="0" smtClean="0"/>
              <a:t>会顺序的执行队列中的所有命令。并将所有命令的运行结果打包到一起返回给</a:t>
            </a:r>
            <a:r>
              <a:rPr lang="en-US" altLang="zh-CN" dirty="0" smtClean="0"/>
              <a:t>client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遇到错误不停止。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WATCH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使得 </a:t>
            </a:r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EXEC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命令需要有条件地执行： 事务只能在所有被监视键都没有被修改的前提下执行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dirty="0" smtClean="0">
                <a:solidFill>
                  <a:srgbClr val="FF0000"/>
                </a:solidFill>
              </a:rPr>
              <a:t>事务不会立即有返回值。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endParaRPr lang="en-US" altLang="zh-CN" dirty="0" smtClean="0"/>
          </a:p>
          <a:p>
            <a:r>
              <a:rPr lang="zh-CN" altLang="en-US" dirty="0" smtClean="0"/>
              <a:t>注意</a:t>
            </a:r>
            <a:r>
              <a:rPr lang="en-US" altLang="zh-CN" dirty="0" smtClean="0"/>
              <a:t>watch</a:t>
            </a:r>
            <a:r>
              <a:rPr lang="zh-CN" altLang="en-US" dirty="0" smtClean="0"/>
              <a:t>的</a:t>
            </a:r>
            <a:r>
              <a:rPr lang="en-US" altLang="zh-CN" dirty="0" smtClean="0"/>
              <a:t>key</a:t>
            </a:r>
            <a:r>
              <a:rPr lang="zh-CN" altLang="en-US" dirty="0" smtClean="0"/>
              <a:t>是对整个连接有效的，事务也一样。如果连接断开，监视和事务都会被自动清除。当然了 </a:t>
            </a:r>
            <a:r>
              <a:rPr lang="en-US" altLang="zh-CN" dirty="0" err="1" smtClean="0"/>
              <a:t>exec,discard,unwatch</a:t>
            </a:r>
            <a:r>
              <a:rPr lang="zh-CN" altLang="en-US" dirty="0" smtClean="0"/>
              <a:t>命令都会清除连接中的所监视。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有些库的实现优化，将命令打包发给</a:t>
            </a:r>
            <a:r>
              <a:rPr lang="en-US" altLang="zh-CN" dirty="0" smtClean="0"/>
              <a:t>server</a:t>
            </a:r>
            <a:r>
              <a:rPr lang="zh-CN" altLang="en-US" dirty="0" smtClean="0"/>
              <a:t>。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当使用 </a:t>
            </a:r>
            <a:r>
              <a:rPr lang="en-US" altLang="zh-CN" dirty="0" smtClean="0"/>
              <a:t>AOF </a:t>
            </a:r>
            <a:r>
              <a:rPr lang="zh-CN" altLang="en-US" dirty="0" smtClean="0"/>
              <a:t>方式做持久化的时候， </a:t>
            </a:r>
            <a:r>
              <a:rPr lang="en-US" altLang="zh-CN" dirty="0" err="1" smtClean="0"/>
              <a:t>Redis</a:t>
            </a:r>
            <a:r>
              <a:rPr lang="en-US" altLang="zh-CN" dirty="0" smtClean="0"/>
              <a:t> </a:t>
            </a:r>
            <a:r>
              <a:rPr lang="zh-CN" altLang="en-US" dirty="0" smtClean="0"/>
              <a:t>会使用单个 </a:t>
            </a:r>
            <a:r>
              <a:rPr lang="en-US" altLang="zh-CN" dirty="0" smtClean="0"/>
              <a:t>write(2) </a:t>
            </a:r>
            <a:r>
              <a:rPr lang="zh-CN" altLang="en-US" dirty="0" smtClean="0"/>
              <a:t>命令将事务写入到磁盘中。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然而，如果 </a:t>
            </a:r>
            <a:r>
              <a:rPr lang="en-US" altLang="zh-CN" dirty="0" err="1" smtClean="0"/>
              <a:t>Redis</a:t>
            </a:r>
            <a:r>
              <a:rPr lang="en-US" altLang="zh-CN" dirty="0" smtClean="0"/>
              <a:t> </a:t>
            </a:r>
            <a:r>
              <a:rPr lang="zh-CN" altLang="en-US" dirty="0" smtClean="0"/>
              <a:t>服务器因为某些原因被管理员杀死，或者遇上某种硬件故障，那么可能只有部分事务命令会被成功写入到磁盘中。</a:t>
            </a:r>
          </a:p>
          <a:p>
            <a:r>
              <a:rPr lang="zh-CN" altLang="en-US" dirty="0" smtClean="0"/>
              <a:t>如果 </a:t>
            </a:r>
            <a:r>
              <a:rPr lang="en-US" altLang="zh-CN" dirty="0" err="1" smtClean="0"/>
              <a:t>Redis</a:t>
            </a:r>
            <a:r>
              <a:rPr lang="en-US" altLang="zh-CN" dirty="0" smtClean="0"/>
              <a:t> </a:t>
            </a:r>
            <a:r>
              <a:rPr lang="zh-CN" altLang="en-US" dirty="0" smtClean="0"/>
              <a:t>在重新启动时发现 </a:t>
            </a:r>
            <a:r>
              <a:rPr lang="en-US" altLang="zh-CN" dirty="0" smtClean="0"/>
              <a:t>AOF </a:t>
            </a:r>
            <a:r>
              <a:rPr lang="zh-CN" altLang="en-US" dirty="0" smtClean="0"/>
              <a:t>文件出了这样的问题，那么它会退出，并汇报一个错误。</a:t>
            </a:r>
          </a:p>
          <a:p>
            <a:r>
              <a:rPr lang="zh-CN" altLang="en-US" dirty="0" smtClean="0"/>
              <a:t>使用 </a:t>
            </a:r>
            <a:r>
              <a:rPr lang="en-US" altLang="zh-CN" dirty="0" err="1" smtClean="0"/>
              <a:t>redis</a:t>
            </a:r>
            <a:r>
              <a:rPr lang="en-US" altLang="zh-CN" dirty="0" smtClean="0"/>
              <a:t>-check-</a:t>
            </a:r>
            <a:r>
              <a:rPr lang="en-US" altLang="zh-CN" dirty="0" err="1" smtClean="0"/>
              <a:t>aof</a:t>
            </a:r>
            <a:r>
              <a:rPr lang="en-US" altLang="zh-CN" dirty="0" smtClean="0"/>
              <a:t> </a:t>
            </a:r>
            <a:r>
              <a:rPr lang="zh-CN" altLang="en-US" dirty="0" smtClean="0"/>
              <a:t>程序可以修复这一问题：它会移除 </a:t>
            </a:r>
            <a:r>
              <a:rPr lang="en-US" altLang="zh-CN" dirty="0" smtClean="0"/>
              <a:t>AOF </a:t>
            </a:r>
            <a:r>
              <a:rPr lang="zh-CN" altLang="en-US" dirty="0" smtClean="0"/>
              <a:t>文件中不完整事务的信息，确保服务器可以顺利启动。</a:t>
            </a:r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891E2-A387-4BB6-98F3-AB1911FCECE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591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dirty="0" smtClean="0"/>
          </a:p>
          <a:p>
            <a:r>
              <a:rPr lang="zh-CN" altLang="en-US" dirty="0" smtClean="0"/>
              <a:t>一致性（</a:t>
            </a:r>
            <a:r>
              <a:rPr lang="en-US" altLang="zh-CN" dirty="0" smtClean="0"/>
              <a:t>Consistency</a:t>
            </a:r>
            <a:r>
              <a:rPr lang="zh-CN" altLang="en-US" dirty="0" smtClean="0"/>
              <a:t>）</a:t>
            </a:r>
            <a:br>
              <a:rPr lang="zh-CN" altLang="en-US" dirty="0" smtClean="0"/>
            </a:br>
            <a:r>
              <a:rPr lang="zh-CN" altLang="en-US" dirty="0" smtClean="0"/>
              <a:t>一致性是指事务使得系统从一个一致的状态转换到另一个一致状态。事务的一致性决定了一个系统设计和实现的复杂度。事务可以不同程度的一致性：</a:t>
            </a:r>
            <a:br>
              <a:rPr lang="zh-CN" altLang="en-US" dirty="0" smtClean="0"/>
            </a:br>
            <a:r>
              <a:rPr lang="zh-CN" altLang="en-US" b="1" dirty="0" smtClean="0"/>
              <a:t>强一致性</a:t>
            </a:r>
            <a:r>
              <a:rPr lang="zh-CN" altLang="en-US" dirty="0" smtClean="0"/>
              <a:t>：读操作可以立即读到提交的更新操作。</a:t>
            </a:r>
            <a:br>
              <a:rPr lang="zh-CN" altLang="en-US" dirty="0" smtClean="0"/>
            </a:br>
            <a:r>
              <a:rPr lang="zh-CN" altLang="en-US" b="1" dirty="0" smtClean="0"/>
              <a:t>弱一致性</a:t>
            </a:r>
            <a:r>
              <a:rPr lang="zh-CN" altLang="en-US" dirty="0" smtClean="0"/>
              <a:t>：提交的更新操作，不一定立即会被读操作读到，此种情况会存在一个不一致窗口，指的是读操作可以读到最新值的一段时间。</a:t>
            </a:r>
            <a:br>
              <a:rPr lang="zh-CN" altLang="en-US" dirty="0" smtClean="0"/>
            </a:br>
            <a:r>
              <a:rPr lang="zh-CN" altLang="en-US" b="1" dirty="0" smtClean="0"/>
              <a:t>最终一致性</a:t>
            </a:r>
            <a:r>
              <a:rPr lang="zh-CN" altLang="en-US" dirty="0" smtClean="0"/>
              <a:t>：是弱一致性的特例。事务更新一份数据，最终一致性保证在没有其他事务更新同样的值的话，最终所有的事务都会读到之前事务更新的最新值。如果没有错误发生，不一致窗口的大小依赖于：通信延迟，系统负载等。</a:t>
            </a:r>
            <a:br>
              <a:rPr lang="zh-CN" altLang="en-US" dirty="0" smtClean="0"/>
            </a:br>
            <a:r>
              <a:rPr lang="zh-CN" altLang="en-US" dirty="0" smtClean="0"/>
              <a:t>其他一致性变体还有：</a:t>
            </a:r>
            <a:br>
              <a:rPr lang="zh-CN" altLang="en-US" dirty="0" smtClean="0"/>
            </a:br>
            <a:r>
              <a:rPr lang="zh-CN" altLang="en-US" b="1" dirty="0" smtClean="0"/>
              <a:t>单调一致性</a:t>
            </a:r>
            <a:r>
              <a:rPr lang="zh-CN" altLang="en-US" dirty="0" smtClean="0"/>
              <a:t>：如果一个进程已经读到一个值，那么后续不会读到更早的值。</a:t>
            </a:r>
            <a:br>
              <a:rPr lang="zh-CN" altLang="en-US" dirty="0" smtClean="0"/>
            </a:br>
            <a:r>
              <a:rPr lang="zh-CN" altLang="en-US" b="1" dirty="0" smtClean="0"/>
              <a:t>会话一致性</a:t>
            </a:r>
            <a:r>
              <a:rPr lang="zh-CN" altLang="en-US" dirty="0" smtClean="0"/>
              <a:t>：保证客户端和服务器交互的会话过程中，读操作可以读到更新操作后的最新值。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891E2-A387-4BB6-98F3-AB1911FCECE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252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zh-CN" alt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zh-CN" alt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：每一条</a:t>
            </a:r>
            <a:r>
              <a:rPr lang="en-US" altLang="zh-CN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aof</a:t>
            </a:r>
            <a:r>
              <a:rPr lang="zh-CN" alt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记录都立即同步到文件，这是最安全的方式，也以为更多的磁盘操作和阻塞延迟，是</a:t>
            </a:r>
            <a:r>
              <a:rPr lang="en-US" altLang="zh-CN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</a:t>
            </a:r>
            <a:r>
              <a:rPr lang="zh-CN" alt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开支较大。</a:t>
            </a:r>
          </a:p>
          <a:p>
            <a:r>
              <a:rPr lang="en-US" altLang="zh-CN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</a:t>
            </a:r>
            <a:r>
              <a:rPr lang="zh-CN" alt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everysec</a:t>
            </a:r>
            <a:r>
              <a:rPr lang="en-US" altLang="zh-CN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推荐</a:t>
            </a:r>
            <a:r>
              <a:rPr lang="en-US" altLang="zh-CN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：每秒同步一次，性能和安全都比较中庸的方式，也是</a:t>
            </a:r>
            <a:r>
              <a:rPr lang="en-US" altLang="zh-CN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zh-CN" alt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推荐的方式。如果遇到物理服务器故障，有可能导致最近一秒内</a:t>
            </a:r>
            <a:r>
              <a:rPr lang="en-US" altLang="zh-CN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aof</a:t>
            </a:r>
            <a:r>
              <a:rPr lang="zh-CN" alt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记录丢失</a:t>
            </a:r>
            <a:r>
              <a:rPr lang="en-US" altLang="zh-CN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可能为部分丢失</a:t>
            </a:r>
            <a:r>
              <a:rPr lang="en-US" altLang="zh-CN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en-US" altLang="zh-CN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</a:t>
            </a:r>
            <a:r>
              <a:rPr lang="zh-CN" alt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redis</a:t>
            </a:r>
            <a:r>
              <a:rPr lang="zh-CN" alt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并不直接调用文件同步，而是交给操作系统来处理，操作系统可以根据</a:t>
            </a:r>
            <a:r>
              <a:rPr lang="en-US" altLang="zh-CN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buffer</a:t>
            </a:r>
            <a:r>
              <a:rPr lang="zh-CN" alt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填充情况</a:t>
            </a:r>
            <a:r>
              <a:rPr lang="en-US" altLang="zh-CN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通道空闲时间等择机触发同步；这是一种普通的文件操作方式。性能较好，在物理服务器故障时，数据丢失量会因</a:t>
            </a:r>
            <a:r>
              <a:rPr lang="en-US" altLang="zh-CN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</a:t>
            </a:r>
            <a:r>
              <a:rPr lang="zh-CN" alt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配置有关。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891E2-A387-4BB6-98F3-AB1911FCECE9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734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zlbytes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uint32_t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整个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占用的内存字节数，对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进行内存重分配，或</a:t>
            </a: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者计算末端时使用。</a:t>
            </a:r>
          </a:p>
          <a:p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zltail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uint32_t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到达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表尾节点的偏移量。通过这个偏移量，可以在不遍</a:t>
            </a: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历整个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的前提下，弹出表尾节点。</a:t>
            </a:r>
          </a:p>
          <a:p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zllen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uint16_t 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中节点的数量。当这个值小于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UINT16_MAX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65535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）时，</a:t>
            </a: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这个值就是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中节点的数量；当这个值等于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UINT16_MAX</a:t>
            </a: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时，节点的数量需要遍历整个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才能计算得出。</a:t>
            </a:r>
          </a:p>
          <a:p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entryX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? 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所保存的节点，各个节点的长度根据内容而定。</a:t>
            </a:r>
          </a:p>
          <a:p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zlend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uint8_t 255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的二进制值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1111 1111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UINT8_MAX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），用于标记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的末端。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891E2-A387-4BB6-98F3-AB1911FCECE9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269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zlbytes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uint32_t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整个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占用的内存字节数，对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进行内存重分配，或</a:t>
            </a: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者计算末端时使用。</a:t>
            </a:r>
          </a:p>
          <a:p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zltail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uint32_t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到达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表尾节点的偏移量。通过这个偏移量，可以在不遍</a:t>
            </a: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历整个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的前提下，弹出表尾节点。</a:t>
            </a:r>
          </a:p>
          <a:p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zllen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uint16_t 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中节点的数量。当这个值小于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UINT16_MAX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65535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）时，</a:t>
            </a: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这个值就是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中节点的数量；当这个值等于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UINT16_MAX</a:t>
            </a: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时，节点的数量需要遍历整个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才能计算得出。</a:t>
            </a:r>
          </a:p>
          <a:p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entryX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? 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所保存的节点，各个节点的长度根据内容而定。</a:t>
            </a:r>
          </a:p>
          <a:p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zlend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uint8_t 255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的二进制值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1111 1111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UINT8_MAX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），用于标记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的末端。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891E2-A387-4BB6-98F3-AB1911FCECE9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721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zlbytes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uint32_t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整个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占用的内存字节数，对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进行内存重分配，或</a:t>
            </a: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者计算末端时使用。</a:t>
            </a:r>
          </a:p>
          <a:p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zltail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uint32_t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到达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表尾节点的偏移量。通过这个偏移量，可以在不遍</a:t>
            </a: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历整个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的前提下，弹出表尾节点。</a:t>
            </a:r>
          </a:p>
          <a:p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zllen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uint16_t 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中节点的数量。当这个值小于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UINT16_MAX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65535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）时，</a:t>
            </a: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这个值就是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中节点的数量；当这个值等于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UINT16_MAX</a:t>
            </a: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时，节点的数量需要遍历整个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才能计算得出。</a:t>
            </a:r>
          </a:p>
          <a:p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entryX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? 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所保存的节点，各个节点的长度根据内容而定。</a:t>
            </a:r>
          </a:p>
          <a:p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zlend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uint8_t 255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的二进制值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1111 1111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UINT8_MAX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），用于标记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ziplist</a:t>
            </a:r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的末端。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891E2-A387-4BB6-98F3-AB1911FCECE9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4284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什么是跳跃表</a:t>
            </a:r>
            <a:endParaRPr kumimoji="1" lang="en-US" altLang="zh-CN" dirty="0" smtClean="0"/>
          </a:p>
          <a:p>
            <a:endParaRPr kumimoji="1" lang="en-US" altLang="zh-CN" dirty="0" smtClean="0"/>
          </a:p>
          <a:p>
            <a:r>
              <a:rPr kumimoji="1" lang="en-US" altLang="zh-CN" dirty="0" err="1" smtClean="0"/>
              <a:t>Skiplist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+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hashtable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891E2-A387-4BB6-98F3-AB1911FCECE9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5447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定时删除：在设置键的过期时间时，创建一个定时事件，当过期时间到达时，由事件处理</a:t>
            </a: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器自动执行键的删除操作。</a:t>
            </a:r>
          </a:p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惰性删除：放任键过期不管，但是在每次从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dict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字典中取出键值时，要检查键是否过</a:t>
            </a: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期，如果过期的话，就删除它，并返回空；如果没过期，就返回键值。</a:t>
            </a:r>
          </a:p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定期删除：每隔一段时间，对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expires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字典进行检查，删除里面的过期键。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891E2-A387-4BB6-98F3-AB1911FCECE9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5242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在每个代表数据库的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redis.h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redisDb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结构类型中，都保存了一个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watched_keys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字典，字典</a:t>
            </a: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的键是这个数据库被监视的键，而字典的值则是一个链表，链表中保存了所有监视这个键的客</a:t>
            </a: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户端。</a:t>
            </a:r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检查数据库的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watched_keys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字典，看是否有客户端在监视已经被命令修改的键，如果</a:t>
            </a: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有的话，程序将所有监视这个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这些被修改键的客户端的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REDIS_DIRTY_CAS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选项打开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当客户端发送</a:t>
            </a:r>
            <a:r>
              <a:rPr lang="en-US" altLang="zh-CN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命令、触发事务执行时，服务器会对客户端的状态进行检查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891E2-A387-4BB6-98F3-AB1911FCECE9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9072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为什么能串行执行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I/O</a:t>
            </a:r>
            <a:r>
              <a:rPr lang="zh-CN" altLang="en-US" dirty="0" smtClean="0"/>
              <a:t>多路复用程序总是会将所有产生事件的套接字都放到一个队列里面，然后通过这个队列，以有序（</a:t>
            </a:r>
            <a:r>
              <a:rPr lang="en-US" altLang="zh-CN" dirty="0" smtClean="0"/>
              <a:t>sequentially</a:t>
            </a:r>
            <a:r>
              <a:rPr lang="zh-CN" altLang="en-US" dirty="0" smtClean="0"/>
              <a:t>）、同步（</a:t>
            </a:r>
            <a:r>
              <a:rPr lang="en-US" altLang="zh-CN" dirty="0" smtClean="0"/>
              <a:t>synchronously</a:t>
            </a:r>
            <a:r>
              <a:rPr lang="zh-CN" altLang="en-US" dirty="0" smtClean="0"/>
              <a:t>）、每次一个套接字的方式向文件事件分派器传送套接字。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891E2-A387-4BB6-98F3-AB1911FCECE9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536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读事件实现接收命令请求</a:t>
            </a:r>
            <a:endParaRPr lang="en-US" altLang="zh-CN" dirty="0" smtClean="0"/>
          </a:p>
          <a:p>
            <a:r>
              <a:rPr lang="zh-CN" altLang="en-US" dirty="0" smtClean="0"/>
              <a:t>写事件实现返回结果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891E2-A387-4BB6-98F3-AB1911FCECE9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6609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891E2-A387-4BB6-98F3-AB1911FCECE9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07808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891E2-A387-4BB6-98F3-AB1911FCECE9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309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891E2-A387-4BB6-98F3-AB1911FCECE9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8634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891E2-A387-4BB6-98F3-AB1911FCECE9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7146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891E2-A387-4BB6-98F3-AB1911FCECE9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585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2018/3/23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2018/3/23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2018/3/23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2018/3/23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2018/3/23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 smtClean="0"/>
              <a:t>Redis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Commands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sorted set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zscore</a:t>
            </a:r>
            <a:endParaRPr lang="en-US" altLang="zh-CN" dirty="0" smtClean="0"/>
          </a:p>
          <a:p>
            <a:r>
              <a:rPr lang="en-US" altLang="zh-CN" dirty="0" err="1" smtClean="0"/>
              <a:t>zrank</a:t>
            </a:r>
            <a:endParaRPr lang="en-US" altLang="zh-CN" dirty="0" smtClean="0"/>
          </a:p>
          <a:p>
            <a:r>
              <a:rPr lang="en-US" altLang="zh-CN" dirty="0" err="1" smtClean="0"/>
              <a:t>zrangebyscore</a:t>
            </a:r>
            <a:endParaRPr lang="en-US" altLang="zh-CN" dirty="0" smtClean="0"/>
          </a:p>
          <a:p>
            <a:r>
              <a:rPr lang="en-US" altLang="zh-CN" dirty="0" err="1" smtClean="0"/>
              <a:t>zinterstore</a:t>
            </a:r>
            <a:endParaRPr lang="en-US" altLang="zh-CN" dirty="0" smtClean="0"/>
          </a:p>
          <a:p>
            <a:endParaRPr lang="en-US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sort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Sort</a:t>
            </a:r>
          </a:p>
          <a:p>
            <a:r>
              <a:rPr lang="en-US" altLang="zh-CN" dirty="0" smtClean="0"/>
              <a:t>limit</a:t>
            </a:r>
          </a:p>
          <a:p>
            <a:r>
              <a:rPr lang="en-US" altLang="zh-CN" dirty="0" err="1" smtClean="0"/>
              <a:t>foreing</a:t>
            </a:r>
            <a:r>
              <a:rPr lang="en-US" altLang="zh-CN" dirty="0" smtClean="0"/>
              <a:t> key (by, get, hash)</a:t>
            </a:r>
          </a:p>
          <a:p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357290" y="3571876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uid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user_name</a:t>
                      </a:r>
                      <a:r>
                        <a:rPr lang="en-US" dirty="0"/>
                        <a:t>_{</a:t>
                      </a:r>
                      <a:r>
                        <a:rPr lang="en-US" dirty="0" err="1"/>
                        <a:t>uid</a:t>
                      </a:r>
                      <a:r>
                        <a:rPr lang="en-US" dirty="0"/>
                        <a:t>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user_level</a:t>
                      </a:r>
                      <a:r>
                        <a:rPr lang="en-US" dirty="0"/>
                        <a:t>_{</a:t>
                      </a:r>
                      <a:r>
                        <a:rPr lang="en-US" dirty="0" err="1"/>
                        <a:t>uid</a:t>
                      </a:r>
                      <a:r>
                        <a:rPr lang="en-US" dirty="0"/>
                        <a:t>}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admin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9999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jack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25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transaction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multi</a:t>
            </a:r>
          </a:p>
          <a:p>
            <a:r>
              <a:rPr lang="en-US" altLang="zh-CN" dirty="0" smtClean="0"/>
              <a:t>discard</a:t>
            </a:r>
          </a:p>
          <a:p>
            <a:r>
              <a:rPr lang="en-US" altLang="zh-CN" dirty="0" smtClean="0"/>
              <a:t>exec</a:t>
            </a:r>
          </a:p>
          <a:p>
            <a:r>
              <a:rPr lang="en-US" altLang="zh-CN" dirty="0" smtClean="0">
                <a:hlinkClick r:id="rId3" action="ppaction://hlinksldjump"/>
              </a:rPr>
              <a:t>watch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transaction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Atomicity ✘</a:t>
            </a:r>
          </a:p>
          <a:p>
            <a:r>
              <a:rPr lang="en-US" dirty="0" smtClean="0"/>
              <a:t>Consistency ✔</a:t>
            </a:r>
          </a:p>
          <a:p>
            <a:r>
              <a:rPr lang="en-US" dirty="0" smtClean="0"/>
              <a:t>Isolation ✔</a:t>
            </a:r>
          </a:p>
          <a:p>
            <a:r>
              <a:rPr lang="en-US" dirty="0" smtClean="0"/>
              <a:t>Durability ✘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Application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Message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844824"/>
            <a:ext cx="6789326" cy="3168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Message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 smtClean="0"/>
              <a:t>创建聊天室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 err="1"/>
              <a:t>chat_id</a:t>
            </a:r>
            <a:r>
              <a:rPr lang="en-US" altLang="zh-CN" sz="2400" dirty="0"/>
              <a:t> = </a:t>
            </a:r>
            <a:r>
              <a:rPr lang="en-US" altLang="zh-CN" sz="2400" dirty="0" err="1" smtClean="0"/>
              <a:t>conn.incr</a:t>
            </a:r>
            <a:r>
              <a:rPr lang="en-US" altLang="zh-CN" sz="2400" dirty="0"/>
              <a:t>('</a:t>
            </a:r>
            <a:r>
              <a:rPr lang="en-US" altLang="zh-CN" sz="2400" dirty="0" err="1"/>
              <a:t>ids:chat</a:t>
            </a:r>
            <a:r>
              <a:rPr lang="en-US" altLang="zh-CN" sz="2400" dirty="0" smtClean="0"/>
              <a:t>:')</a:t>
            </a:r>
          </a:p>
          <a:p>
            <a:pPr marL="0" indent="0">
              <a:buNone/>
            </a:pPr>
            <a:r>
              <a:rPr lang="en-US" altLang="zh-CN" sz="2400" dirty="0"/>
              <a:t>pipeline = </a:t>
            </a:r>
            <a:r>
              <a:rPr lang="en-US" altLang="zh-CN" sz="2400" dirty="0" err="1"/>
              <a:t>conn.pipeline</a:t>
            </a:r>
            <a:r>
              <a:rPr lang="en-US" altLang="zh-CN" sz="2400" dirty="0"/>
              <a:t>(True</a:t>
            </a:r>
            <a:r>
              <a:rPr lang="en-US" altLang="zh-CN" sz="2400" dirty="0" smtClean="0"/>
              <a:t>)</a:t>
            </a:r>
          </a:p>
          <a:p>
            <a:pPr marL="0" indent="0">
              <a:buNone/>
            </a:pPr>
            <a:r>
              <a:rPr lang="en-US" altLang="zh-CN" sz="2400" dirty="0" err="1"/>
              <a:t>recipientsd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dict</a:t>
            </a:r>
            <a:r>
              <a:rPr lang="en-US" altLang="zh-CN" sz="2400" dirty="0"/>
              <a:t>((r, 0) for r in recipients)</a:t>
            </a:r>
          </a:p>
          <a:p>
            <a:pPr marL="0" indent="0">
              <a:buNone/>
            </a:pPr>
            <a:r>
              <a:rPr lang="en-US" altLang="zh-CN" sz="2400" dirty="0" err="1"/>
              <a:t>pipeline.zadd</a:t>
            </a:r>
            <a:r>
              <a:rPr lang="en-US" altLang="zh-CN" sz="2400" dirty="0"/>
              <a:t>('chat:' + </a:t>
            </a:r>
            <a:r>
              <a:rPr lang="en-US" altLang="zh-CN" sz="2400" dirty="0" err="1"/>
              <a:t>chat_id</a:t>
            </a:r>
            <a:r>
              <a:rPr lang="en-US" altLang="zh-CN" sz="2400" dirty="0"/>
              <a:t>, **</a:t>
            </a:r>
            <a:r>
              <a:rPr lang="en-US" altLang="zh-CN" sz="2400" dirty="0" err="1"/>
              <a:t>recipientsd</a:t>
            </a:r>
            <a:r>
              <a:rPr lang="en-US" altLang="zh-CN" sz="2400" dirty="0" smtClean="0"/>
              <a:t>)</a:t>
            </a:r>
          </a:p>
          <a:p>
            <a:pPr marL="0" indent="0">
              <a:buNone/>
            </a:pPr>
            <a:r>
              <a:rPr lang="en-US" altLang="zh-CN" sz="2400" dirty="0"/>
              <a:t>for rec in recipients:</a:t>
            </a:r>
          </a:p>
          <a:p>
            <a:pPr marL="0" indent="0">
              <a:buNone/>
            </a:pPr>
            <a:r>
              <a:rPr lang="en-US" altLang="zh-CN" sz="2400" dirty="0" err="1"/>
              <a:t>pipeline.zadd</a:t>
            </a:r>
            <a:r>
              <a:rPr lang="en-US" altLang="zh-CN" sz="2400" dirty="0"/>
              <a:t>('seen:' + rec, </a:t>
            </a:r>
            <a:r>
              <a:rPr lang="en-US" altLang="zh-CN" sz="2400" dirty="0" err="1"/>
              <a:t>chat_id</a:t>
            </a:r>
            <a:r>
              <a:rPr lang="en-US" altLang="zh-CN" sz="2400" dirty="0"/>
              <a:t>, 0)</a:t>
            </a:r>
          </a:p>
          <a:p>
            <a:pPr marL="0" indent="0">
              <a:buNone/>
            </a:pPr>
            <a:r>
              <a:rPr lang="en-US" altLang="zh-CN" sz="2400" dirty="0" err="1"/>
              <a:t>pipeline.execute</a:t>
            </a:r>
            <a:r>
              <a:rPr lang="en-US" altLang="zh-CN" sz="2400" dirty="0"/>
              <a:t>()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07460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Message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400" dirty="0" smtClean="0"/>
              <a:t>发送消息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/>
              <a:t>identifier = </a:t>
            </a:r>
            <a:r>
              <a:rPr lang="en-US" altLang="zh-CN" sz="2400" dirty="0" err="1"/>
              <a:t>acquire_lock</a:t>
            </a:r>
            <a:r>
              <a:rPr lang="en-US" altLang="zh-CN" sz="2400" dirty="0"/>
              <a:t>(conn, 'chat:' + </a:t>
            </a:r>
            <a:r>
              <a:rPr lang="en-US" altLang="zh-CN" sz="2400" dirty="0" err="1"/>
              <a:t>chat_id</a:t>
            </a:r>
            <a:r>
              <a:rPr lang="en-US" altLang="zh-CN" sz="2400" dirty="0" smtClean="0"/>
              <a:t>)</a:t>
            </a:r>
          </a:p>
          <a:p>
            <a:pPr marL="0" indent="0">
              <a:buNone/>
            </a:pPr>
            <a:r>
              <a:rPr lang="en-US" altLang="zh-CN" sz="2400" dirty="0"/>
              <a:t>mid = </a:t>
            </a:r>
            <a:r>
              <a:rPr lang="en-US" altLang="zh-CN" sz="2400" dirty="0" err="1"/>
              <a:t>conn.incr</a:t>
            </a:r>
            <a:r>
              <a:rPr lang="en-US" altLang="zh-CN" sz="2400" dirty="0"/>
              <a:t>('ids:' + </a:t>
            </a:r>
            <a:r>
              <a:rPr lang="en-US" altLang="zh-CN" sz="2400" dirty="0" err="1"/>
              <a:t>chat_id</a:t>
            </a:r>
            <a:r>
              <a:rPr lang="en-US" altLang="zh-CN" sz="2400" dirty="0"/>
              <a:t>)</a:t>
            </a:r>
          </a:p>
          <a:p>
            <a:pPr marL="0" indent="0">
              <a:buNone/>
            </a:pPr>
            <a:r>
              <a:rPr lang="en-US" altLang="zh-CN" sz="2400" dirty="0" err="1"/>
              <a:t>ts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time.time</a:t>
            </a:r>
            <a:r>
              <a:rPr lang="en-US" altLang="zh-CN" sz="2400" dirty="0"/>
              <a:t>()</a:t>
            </a:r>
          </a:p>
          <a:p>
            <a:pPr marL="0" indent="0">
              <a:buNone/>
            </a:pPr>
            <a:r>
              <a:rPr lang="en-US" altLang="zh-CN" sz="2400" dirty="0"/>
              <a:t>packed = </a:t>
            </a:r>
            <a:r>
              <a:rPr lang="en-US" altLang="zh-CN" sz="2400" dirty="0" err="1"/>
              <a:t>json.dumps</a:t>
            </a:r>
            <a:r>
              <a:rPr lang="en-US" altLang="zh-CN" sz="2400" dirty="0"/>
              <a:t>({</a:t>
            </a:r>
          </a:p>
          <a:p>
            <a:pPr marL="0" indent="0">
              <a:buNone/>
            </a:pPr>
            <a:r>
              <a:rPr lang="en-US" altLang="zh-CN" sz="2400" dirty="0" smtClean="0"/>
              <a:t>	'id</a:t>
            </a:r>
            <a:r>
              <a:rPr lang="en-US" altLang="zh-CN" sz="2400" dirty="0"/>
              <a:t>': mid,</a:t>
            </a:r>
          </a:p>
          <a:p>
            <a:pPr marL="0" indent="0">
              <a:buNone/>
            </a:pPr>
            <a:r>
              <a:rPr lang="en-US" altLang="zh-CN" sz="2400" dirty="0" smtClean="0"/>
              <a:t>	'</a:t>
            </a:r>
            <a:r>
              <a:rPr lang="en-US" altLang="zh-CN" sz="2400" dirty="0" err="1" smtClean="0"/>
              <a:t>ts</a:t>
            </a:r>
            <a:r>
              <a:rPr lang="en-US" altLang="zh-CN" sz="2400" dirty="0"/>
              <a:t>': </a:t>
            </a:r>
            <a:r>
              <a:rPr lang="en-US" altLang="zh-CN" sz="2400" dirty="0" err="1"/>
              <a:t>ts</a:t>
            </a:r>
            <a:r>
              <a:rPr lang="en-US" altLang="zh-CN" sz="2400" dirty="0"/>
              <a:t>,</a:t>
            </a:r>
          </a:p>
          <a:p>
            <a:pPr marL="0" indent="0">
              <a:buNone/>
            </a:pPr>
            <a:r>
              <a:rPr lang="en-US" altLang="zh-CN" sz="2400" dirty="0" smtClean="0"/>
              <a:t>	'sender</a:t>
            </a:r>
            <a:r>
              <a:rPr lang="en-US" altLang="zh-CN" sz="2400" dirty="0"/>
              <a:t>': sender,</a:t>
            </a:r>
          </a:p>
          <a:p>
            <a:pPr marL="0" indent="0">
              <a:buNone/>
            </a:pPr>
            <a:r>
              <a:rPr lang="en-US" altLang="zh-CN" sz="2400" dirty="0" smtClean="0"/>
              <a:t>	'message</a:t>
            </a:r>
            <a:r>
              <a:rPr lang="en-US" altLang="zh-CN" sz="2400" dirty="0"/>
              <a:t>': message</a:t>
            </a:r>
            <a:r>
              <a:rPr lang="en-US" altLang="zh-CN" sz="2400" dirty="0" smtClean="0"/>
              <a:t>,})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 err="1"/>
              <a:t>conn.zadd</a:t>
            </a:r>
            <a:r>
              <a:rPr lang="en-US" altLang="zh-CN" sz="2400" dirty="0"/>
              <a:t>('</a:t>
            </a:r>
            <a:r>
              <a:rPr lang="en-US" altLang="zh-CN" sz="2400" dirty="0" err="1"/>
              <a:t>msgs</a:t>
            </a:r>
            <a:r>
              <a:rPr lang="en-US" altLang="zh-CN" sz="2400" dirty="0"/>
              <a:t>:' + </a:t>
            </a:r>
            <a:r>
              <a:rPr lang="en-US" altLang="zh-CN" sz="2400" dirty="0" err="1"/>
              <a:t>chat_id</a:t>
            </a:r>
            <a:r>
              <a:rPr lang="en-US" altLang="zh-CN" sz="2400" dirty="0"/>
              <a:t>, packed, mid</a:t>
            </a:r>
            <a:r>
              <a:rPr lang="en-US" altLang="zh-CN" sz="2400" dirty="0" smtClean="0"/>
              <a:t>)</a:t>
            </a:r>
          </a:p>
          <a:p>
            <a:pPr marL="0" indent="0">
              <a:buNone/>
            </a:pPr>
            <a:r>
              <a:rPr lang="en-US" altLang="zh-CN" sz="2400" dirty="0" err="1"/>
              <a:t>release_lock</a:t>
            </a:r>
            <a:r>
              <a:rPr lang="en-US" altLang="zh-CN" sz="2400" dirty="0"/>
              <a:t>(conn, 'chat:' + </a:t>
            </a:r>
            <a:r>
              <a:rPr lang="en-US" altLang="zh-CN" sz="2400" dirty="0" err="1"/>
              <a:t>chat_id</a:t>
            </a:r>
            <a:r>
              <a:rPr lang="en-US" altLang="zh-CN" sz="2400" dirty="0"/>
              <a:t>, identifier)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73924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Message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1800" dirty="0" smtClean="0"/>
              <a:t>获取消息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en-US" altLang="zh-CN" sz="1800" dirty="0"/>
              <a:t>seen = </a:t>
            </a:r>
            <a:r>
              <a:rPr lang="en-US" altLang="zh-CN" sz="1800" dirty="0" err="1"/>
              <a:t>conn.zrange</a:t>
            </a:r>
            <a:r>
              <a:rPr lang="en-US" altLang="zh-CN" sz="1800" dirty="0"/>
              <a:t>('seen:' + recipient, 0, -1, </a:t>
            </a:r>
            <a:r>
              <a:rPr lang="en-US" altLang="zh-CN" sz="1800" dirty="0" err="1"/>
              <a:t>withscores</a:t>
            </a:r>
            <a:r>
              <a:rPr lang="en-US" altLang="zh-CN" sz="1800" dirty="0"/>
              <a:t>=True</a:t>
            </a:r>
            <a:r>
              <a:rPr lang="en-US" altLang="zh-CN" sz="1800" dirty="0" smtClean="0"/>
              <a:t>)</a:t>
            </a:r>
          </a:p>
          <a:p>
            <a:pPr marL="0" indent="0">
              <a:buNone/>
            </a:pPr>
            <a:r>
              <a:rPr lang="en-US" altLang="zh-CN" sz="1800" dirty="0"/>
              <a:t>for </a:t>
            </a:r>
            <a:r>
              <a:rPr lang="en-US" altLang="zh-CN" sz="1800" dirty="0" err="1"/>
              <a:t>chat_id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seen_id</a:t>
            </a:r>
            <a:r>
              <a:rPr lang="en-US" altLang="zh-CN" sz="1800" dirty="0"/>
              <a:t> in seen:</a:t>
            </a:r>
          </a:p>
          <a:p>
            <a:pPr marL="0" indent="0">
              <a:buNone/>
            </a:pPr>
            <a:r>
              <a:rPr lang="en-US" altLang="zh-CN" sz="1800" dirty="0" smtClean="0"/>
              <a:t>	</a:t>
            </a:r>
            <a:r>
              <a:rPr lang="en-US" altLang="zh-CN" sz="1800" dirty="0" err="1" smtClean="0"/>
              <a:t>pipeline.zrangebyscore</a:t>
            </a:r>
            <a:r>
              <a:rPr lang="en-US" altLang="zh-CN" sz="1800" dirty="0" smtClean="0"/>
              <a:t>('</a:t>
            </a:r>
            <a:r>
              <a:rPr lang="en-US" altLang="zh-CN" sz="1800" dirty="0" err="1" smtClean="0"/>
              <a:t>msgs</a:t>
            </a:r>
            <a:r>
              <a:rPr lang="en-US" altLang="zh-CN" sz="1800" dirty="0"/>
              <a:t>:' + </a:t>
            </a:r>
            <a:r>
              <a:rPr lang="en-US" altLang="zh-CN" sz="1800" dirty="0" err="1"/>
              <a:t>chat_id</a:t>
            </a:r>
            <a:r>
              <a:rPr lang="en-US" altLang="zh-CN" sz="1800" dirty="0"/>
              <a:t>, seen_id+1, '</a:t>
            </a:r>
            <a:r>
              <a:rPr lang="en-US" altLang="zh-CN" sz="1800" dirty="0" err="1"/>
              <a:t>inf</a:t>
            </a:r>
            <a:r>
              <a:rPr lang="en-US" altLang="zh-CN" sz="1800" dirty="0" smtClean="0"/>
              <a:t>')</a:t>
            </a:r>
          </a:p>
          <a:p>
            <a:pPr marL="0" indent="0">
              <a:buNone/>
            </a:pPr>
            <a:r>
              <a:rPr lang="en-US" altLang="zh-CN" sz="1800" dirty="0"/>
              <a:t>for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, ((</a:t>
            </a:r>
            <a:r>
              <a:rPr lang="en-US" altLang="zh-CN" sz="1800" dirty="0" err="1"/>
              <a:t>chat_id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seen_id</a:t>
            </a:r>
            <a:r>
              <a:rPr lang="en-US" altLang="zh-CN" sz="1800" dirty="0"/>
              <a:t>), messages) in enumerate(</a:t>
            </a:r>
            <a:r>
              <a:rPr lang="en-US" altLang="zh-CN" sz="1800" dirty="0" err="1"/>
              <a:t>chat_info</a:t>
            </a:r>
            <a:r>
              <a:rPr lang="en-US" altLang="zh-CN" sz="1800" dirty="0" smtClean="0"/>
              <a:t>):</a:t>
            </a:r>
          </a:p>
          <a:p>
            <a:pPr marL="0" indent="0">
              <a:buNone/>
            </a:pPr>
            <a:r>
              <a:rPr lang="en-US" altLang="zh-CN" sz="1800" dirty="0"/>
              <a:t>	</a:t>
            </a:r>
            <a:r>
              <a:rPr lang="en-US" altLang="zh-CN" sz="1800" dirty="0" smtClean="0"/>
              <a:t>messages</a:t>
            </a:r>
            <a:r>
              <a:rPr lang="en-US" altLang="zh-CN" sz="1800" dirty="0"/>
              <a:t>[:] = map(</a:t>
            </a:r>
            <a:r>
              <a:rPr lang="en-US" altLang="zh-CN" sz="1800" dirty="0" err="1"/>
              <a:t>json.loads</a:t>
            </a:r>
            <a:r>
              <a:rPr lang="en-US" altLang="zh-CN" sz="1800" dirty="0"/>
              <a:t>, messages)</a:t>
            </a:r>
          </a:p>
          <a:p>
            <a:pPr marL="0" indent="0">
              <a:buNone/>
            </a:pPr>
            <a:r>
              <a:rPr lang="en-US" altLang="zh-CN" sz="1800" dirty="0" smtClean="0"/>
              <a:t>	</a:t>
            </a:r>
            <a:r>
              <a:rPr lang="en-US" altLang="zh-CN" sz="1800" dirty="0" err="1" smtClean="0"/>
              <a:t>seen_id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= messages[-1]['id']</a:t>
            </a:r>
          </a:p>
          <a:p>
            <a:pPr marL="0" indent="0">
              <a:buNone/>
            </a:pPr>
            <a:r>
              <a:rPr lang="en-US" altLang="zh-CN" sz="1800" dirty="0" smtClean="0"/>
              <a:t>	</a:t>
            </a:r>
            <a:r>
              <a:rPr lang="en-US" altLang="zh-CN" sz="1800" dirty="0" err="1" smtClean="0"/>
              <a:t>conn.zadd</a:t>
            </a:r>
            <a:r>
              <a:rPr lang="en-US" altLang="zh-CN" sz="1800" dirty="0"/>
              <a:t>('chat:' + </a:t>
            </a:r>
            <a:r>
              <a:rPr lang="en-US" altLang="zh-CN" sz="1800" dirty="0" err="1"/>
              <a:t>chat_id</a:t>
            </a:r>
            <a:r>
              <a:rPr lang="en-US" altLang="zh-CN" sz="1800" dirty="0"/>
              <a:t>, recipient, </a:t>
            </a:r>
            <a:r>
              <a:rPr lang="en-US" altLang="zh-CN" sz="1800" dirty="0" err="1"/>
              <a:t>seen_id</a:t>
            </a:r>
            <a:r>
              <a:rPr lang="en-US" altLang="zh-CN" sz="1800" dirty="0"/>
              <a:t>)</a:t>
            </a:r>
          </a:p>
          <a:p>
            <a:pPr marL="0" indent="0">
              <a:buNone/>
            </a:pPr>
            <a:r>
              <a:rPr lang="en-US" altLang="zh-CN" sz="1800" dirty="0" smtClean="0"/>
              <a:t>	</a:t>
            </a:r>
            <a:r>
              <a:rPr lang="en-US" altLang="zh-CN" sz="1800" dirty="0" err="1" smtClean="0"/>
              <a:t>min_id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= </a:t>
            </a:r>
            <a:r>
              <a:rPr lang="en-US" altLang="zh-CN" sz="1800" dirty="0" err="1"/>
              <a:t>conn.zrange</a:t>
            </a:r>
            <a:r>
              <a:rPr lang="en-US" altLang="zh-CN" sz="1800" dirty="0" smtClean="0"/>
              <a:t>('chat</a:t>
            </a:r>
            <a:r>
              <a:rPr lang="en-US" altLang="zh-CN" sz="1800" dirty="0"/>
              <a:t>:' + </a:t>
            </a:r>
            <a:r>
              <a:rPr lang="en-US" altLang="zh-CN" sz="1800" dirty="0" err="1"/>
              <a:t>chat_id</a:t>
            </a:r>
            <a:r>
              <a:rPr lang="en-US" altLang="zh-CN" sz="1800" dirty="0"/>
              <a:t>, 0, 0, </a:t>
            </a:r>
            <a:r>
              <a:rPr lang="en-US" altLang="zh-CN" sz="1800" dirty="0" err="1"/>
              <a:t>withscores</a:t>
            </a:r>
            <a:r>
              <a:rPr lang="en-US" altLang="zh-CN" sz="1800" dirty="0"/>
              <a:t>=True)</a:t>
            </a:r>
          </a:p>
          <a:p>
            <a:pPr marL="0" indent="0">
              <a:buNone/>
            </a:pPr>
            <a:r>
              <a:rPr lang="en-US" altLang="zh-CN" sz="1800" dirty="0" smtClean="0"/>
              <a:t>	</a:t>
            </a:r>
            <a:r>
              <a:rPr lang="en-US" altLang="zh-CN" sz="1800" dirty="0" err="1" smtClean="0"/>
              <a:t>pipeline.zadd</a:t>
            </a:r>
            <a:r>
              <a:rPr lang="en-US" altLang="zh-CN" sz="1800" dirty="0"/>
              <a:t>('seen:' + recipient, </a:t>
            </a:r>
            <a:r>
              <a:rPr lang="en-US" altLang="zh-CN" sz="1800" dirty="0" err="1"/>
              <a:t>chat_id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seen_id</a:t>
            </a:r>
            <a:r>
              <a:rPr lang="en-US" altLang="zh-CN" sz="1800" dirty="0"/>
              <a:t>)</a:t>
            </a:r>
          </a:p>
          <a:p>
            <a:pPr marL="0" indent="0">
              <a:buNone/>
            </a:pPr>
            <a:r>
              <a:rPr lang="en-US" altLang="zh-CN" sz="1800" dirty="0" smtClean="0"/>
              <a:t>	if </a:t>
            </a:r>
            <a:r>
              <a:rPr lang="en-US" altLang="zh-CN" sz="1800" dirty="0" err="1"/>
              <a:t>min_id</a:t>
            </a:r>
            <a:r>
              <a:rPr lang="en-US" altLang="zh-CN" sz="1800" dirty="0"/>
              <a:t>:</a:t>
            </a:r>
          </a:p>
          <a:p>
            <a:pPr marL="0" indent="0">
              <a:buNone/>
            </a:pPr>
            <a:r>
              <a:rPr lang="en-US" altLang="zh-CN" sz="1800" dirty="0" smtClean="0"/>
              <a:t>		</a:t>
            </a:r>
            <a:r>
              <a:rPr lang="en-US" altLang="zh-CN" sz="1800" dirty="0" err="1" smtClean="0"/>
              <a:t>pipeline.zremrangebyscore</a:t>
            </a:r>
            <a:r>
              <a:rPr lang="en-US" altLang="zh-CN" sz="1800" dirty="0" smtClean="0"/>
              <a:t>(</a:t>
            </a:r>
            <a:r>
              <a:rPr lang="sv-SE" altLang="zh-CN" sz="1800" dirty="0" smtClean="0"/>
              <a:t>'msgs</a:t>
            </a:r>
            <a:r>
              <a:rPr lang="sv-SE" altLang="zh-CN" sz="1800" dirty="0"/>
              <a:t>:' + chat_id, 0, min_id[0][1])</a:t>
            </a:r>
          </a:p>
          <a:p>
            <a:pPr marL="0" indent="0">
              <a:buNone/>
            </a:pPr>
            <a:r>
              <a:rPr lang="en-US" altLang="zh-CN" sz="1800" dirty="0" smtClean="0"/>
              <a:t>	</a:t>
            </a:r>
            <a:r>
              <a:rPr lang="en-US" altLang="zh-CN" sz="1800" dirty="0" err="1" smtClean="0"/>
              <a:t>chat_info</a:t>
            </a:r>
            <a:r>
              <a:rPr lang="en-US" altLang="zh-CN" sz="1800" dirty="0" smtClean="0"/>
              <a:t>[</a:t>
            </a:r>
            <a:r>
              <a:rPr lang="en-US" altLang="zh-CN" sz="1800" dirty="0" err="1" smtClean="0"/>
              <a:t>i</a:t>
            </a:r>
            <a:r>
              <a:rPr lang="en-US" altLang="zh-CN" sz="1800" dirty="0"/>
              <a:t>] = (</a:t>
            </a:r>
            <a:r>
              <a:rPr lang="en-US" altLang="zh-CN" sz="1800" dirty="0" err="1"/>
              <a:t>chat_id</a:t>
            </a:r>
            <a:r>
              <a:rPr lang="en-US" altLang="zh-CN" sz="1800" dirty="0"/>
              <a:t>, messages</a:t>
            </a:r>
            <a:r>
              <a:rPr lang="en-US" altLang="zh-CN" sz="1800" dirty="0" smtClean="0"/>
              <a:t>)</a:t>
            </a:r>
          </a:p>
          <a:p>
            <a:pPr marL="0" indent="0">
              <a:buNone/>
            </a:pPr>
            <a:r>
              <a:rPr lang="en-US" altLang="zh-CN" sz="1800" dirty="0" err="1" smtClean="0"/>
              <a:t>pipeline.execute</a:t>
            </a:r>
            <a:r>
              <a:rPr lang="en-US" altLang="zh-CN" sz="1800" dirty="0"/>
              <a:t>()</a:t>
            </a:r>
          </a:p>
          <a:p>
            <a:pPr marL="0" indent="0">
              <a:buNone/>
            </a:pPr>
            <a:r>
              <a:rPr lang="en-US" altLang="zh-CN" sz="1800" dirty="0"/>
              <a:t>return </a:t>
            </a:r>
            <a:r>
              <a:rPr lang="en-US" altLang="zh-CN" sz="1800" dirty="0" err="1"/>
              <a:t>chat_info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744368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Concurrency problem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Why </a:t>
            </a:r>
            <a:r>
              <a:rPr lang="en-US" altLang="zh-CN" dirty="0" smtClean="0"/>
              <a:t>need </a:t>
            </a:r>
            <a:r>
              <a:rPr lang="en-US" altLang="zh-CN" dirty="0" err="1" smtClean="0"/>
              <a:t>acquire_lock</a:t>
            </a:r>
            <a:r>
              <a:rPr lang="en-US" altLang="zh-CN" dirty="0" smtClean="0"/>
              <a:t>(conn</a:t>
            </a:r>
            <a:r>
              <a:rPr lang="en-US" altLang="zh-CN" dirty="0"/>
              <a:t>, 'chat:' + </a:t>
            </a:r>
            <a:r>
              <a:rPr lang="en-US" altLang="zh-CN" dirty="0" err="1"/>
              <a:t>chat_id</a:t>
            </a:r>
            <a:r>
              <a:rPr lang="en-US" altLang="zh-CN" dirty="0"/>
              <a:t>)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Design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DATABASE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Select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0,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Select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1</a:t>
            </a:r>
            <a:r>
              <a:rPr kumimoji="1" lang="mr-IN" altLang="zh-CN" dirty="0" smtClean="0"/>
              <a:t>…</a:t>
            </a:r>
            <a:endParaRPr kumimoji="1" lang="en-US" altLang="zh-CN" dirty="0" smtClean="0"/>
          </a:p>
          <a:p>
            <a:r>
              <a:rPr kumimoji="1" lang="en-US" altLang="zh-CN" dirty="0" smtClean="0"/>
              <a:t>First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level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: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key-value</a:t>
            </a:r>
          </a:p>
          <a:p>
            <a:pPr lvl="1"/>
            <a:r>
              <a:rPr lang="zh-CN" altLang="en-US" dirty="0" smtClean="0"/>
              <a:t>数据</a:t>
            </a:r>
            <a:r>
              <a:rPr lang="en-US" altLang="zh-CN" dirty="0" smtClean="0"/>
              <a:t>key</a:t>
            </a:r>
            <a:r>
              <a:rPr lang="zh-CN" altLang="en-US" dirty="0"/>
              <a:t> </a:t>
            </a:r>
            <a:r>
              <a:rPr lang="en-US" altLang="zh-CN" dirty="0" smtClean="0"/>
              <a:t>-&gt;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dict</a:t>
            </a:r>
            <a:endParaRPr lang="en-US" altLang="zh-CN" dirty="0"/>
          </a:p>
          <a:p>
            <a:pPr lvl="1"/>
            <a:r>
              <a:rPr lang="zh-CN" altLang="en-US" dirty="0" smtClean="0"/>
              <a:t>过期</a:t>
            </a:r>
            <a:r>
              <a:rPr lang="en-US" altLang="zh-CN" dirty="0" smtClean="0"/>
              <a:t>key</a:t>
            </a:r>
            <a:r>
              <a:rPr lang="zh-CN" altLang="en-US" dirty="0"/>
              <a:t> </a:t>
            </a:r>
            <a:r>
              <a:rPr lang="en-US" altLang="zh-CN" dirty="0" smtClean="0"/>
              <a:t>-&gt;</a:t>
            </a:r>
            <a:r>
              <a:rPr lang="zh-CN" altLang="en-US" dirty="0" smtClean="0"/>
              <a:t> </a:t>
            </a:r>
            <a:r>
              <a:rPr lang="en-US" altLang="zh-CN" dirty="0" smtClean="0"/>
              <a:t>expires</a:t>
            </a:r>
            <a:endParaRPr lang="en-US" altLang="zh-CN" dirty="0"/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5356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PERSISTANCE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RDB(</a:t>
            </a:r>
            <a:r>
              <a:rPr lang="en-US" altLang="zh-CN" b="1" dirty="0" err="1"/>
              <a:t>Redis</a:t>
            </a:r>
            <a:r>
              <a:rPr lang="en-US" altLang="zh-CN" b="1" dirty="0"/>
              <a:t> </a:t>
            </a:r>
            <a:r>
              <a:rPr lang="en-US" altLang="zh-CN" b="1" dirty="0" err="1" smtClean="0"/>
              <a:t>DataBase</a:t>
            </a:r>
            <a:r>
              <a:rPr kumimoji="1" lang="en-US" altLang="zh-CN" dirty="0" smtClean="0"/>
              <a:t>)</a:t>
            </a:r>
          </a:p>
          <a:p>
            <a:pPr lvl="1"/>
            <a:r>
              <a:rPr kumimoji="1" lang="zh-CN" altLang="en-US" dirty="0" smtClean="0"/>
              <a:t>镜像</a:t>
            </a:r>
            <a:endParaRPr kumimoji="1" lang="en-US" altLang="zh-CN" dirty="0" smtClean="0"/>
          </a:p>
          <a:p>
            <a:endParaRPr kumimoji="1" lang="en-US" altLang="zh-CN" dirty="0"/>
          </a:p>
          <a:p>
            <a:r>
              <a:rPr kumimoji="1" lang="en-US" altLang="zh-CN" dirty="0" smtClean="0"/>
              <a:t>AOF(</a:t>
            </a:r>
            <a:r>
              <a:rPr lang="en-US" altLang="zh-CN" b="1" dirty="0" smtClean="0"/>
              <a:t>Append-only file</a:t>
            </a:r>
            <a:r>
              <a:rPr kumimoji="1" lang="en-US" altLang="zh-CN" dirty="0" smtClean="0"/>
              <a:t>)</a:t>
            </a:r>
          </a:p>
          <a:p>
            <a:pPr lvl="1"/>
            <a:r>
              <a:rPr kumimoji="1" lang="en-US" altLang="zh-CN" dirty="0" err="1" smtClean="0"/>
              <a:t>binlog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525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RDB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某个时间点将数据写入一个临时文件，持久化结束后，用这个临时文件替换上次持久化的</a:t>
            </a:r>
            <a:r>
              <a:rPr lang="zh-CN" altLang="en-US" dirty="0" smtClean="0"/>
              <a:t>文件</a:t>
            </a:r>
            <a:endParaRPr lang="en-US" altLang="zh-CN" dirty="0" smtClean="0"/>
          </a:p>
          <a:p>
            <a:r>
              <a:rPr lang="zh-CN" altLang="en-US" dirty="0" smtClean="0"/>
              <a:t>启动</a:t>
            </a:r>
            <a:r>
              <a:rPr lang="en-US" altLang="zh-CN" dirty="0" err="1"/>
              <a:t>redis</a:t>
            </a:r>
            <a:r>
              <a:rPr lang="zh-CN" altLang="en-US" dirty="0"/>
              <a:t>的</a:t>
            </a:r>
            <a:r>
              <a:rPr lang="en-US" altLang="zh-CN" dirty="0"/>
              <a:t>server</a:t>
            </a:r>
            <a:r>
              <a:rPr lang="zh-CN" altLang="en-US" dirty="0"/>
              <a:t>时会从</a:t>
            </a:r>
            <a:r>
              <a:rPr lang="en-US" altLang="zh-CN" dirty="0" err="1"/>
              <a:t>dump.rdb</a:t>
            </a:r>
            <a:r>
              <a:rPr lang="zh-CN" altLang="en-US" dirty="0"/>
              <a:t>中先同步</a:t>
            </a:r>
            <a:r>
              <a:rPr lang="zh-CN" altLang="en-US" dirty="0" smtClean="0"/>
              <a:t>数据</a:t>
            </a:r>
            <a:endParaRPr lang="en-US" altLang="zh-CN" dirty="0" smtClean="0"/>
          </a:p>
          <a:p>
            <a:endParaRPr lang="zh-CN" altLang="en-US" dirty="0" smtClean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5772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RDB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优点：使用单独子进程来进行持久化，主进程不会进行任何</a:t>
            </a:r>
            <a:r>
              <a:rPr lang="en-US" altLang="zh-CN" dirty="0"/>
              <a:t>IO</a:t>
            </a:r>
            <a:r>
              <a:rPr lang="zh-CN" altLang="en-US" dirty="0"/>
              <a:t>操作，保证了</a:t>
            </a:r>
            <a:r>
              <a:rPr lang="en-US" altLang="zh-CN" dirty="0" err="1"/>
              <a:t>redis</a:t>
            </a:r>
            <a:r>
              <a:rPr lang="zh-CN" altLang="en-US" dirty="0"/>
              <a:t>的高性能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RDB</a:t>
            </a:r>
            <a:r>
              <a:rPr lang="zh-CN" altLang="en-US" dirty="0"/>
              <a:t>是间隔一段时间进行持久化，如果持久化之间</a:t>
            </a:r>
            <a:r>
              <a:rPr lang="en-US" altLang="zh-CN" dirty="0" err="1"/>
              <a:t>redis</a:t>
            </a:r>
            <a:r>
              <a:rPr lang="zh-CN" altLang="en-US" dirty="0"/>
              <a:t>发生故障，会发生数据丢失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3891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RDB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定时保存：</a:t>
            </a:r>
            <a:r>
              <a:rPr lang="en-US" altLang="zh-CN" dirty="0" err="1"/>
              <a:t>redis</a:t>
            </a:r>
            <a:r>
              <a:rPr lang="zh-CN" altLang="en-US" dirty="0"/>
              <a:t>服务器会定时扫面配置的条件</a:t>
            </a:r>
            <a:r>
              <a:rPr lang="en-US" altLang="zh-CN" dirty="0" err="1"/>
              <a:t>saveparams</a:t>
            </a:r>
            <a:r>
              <a:rPr lang="zh-CN" altLang="en-US" dirty="0"/>
              <a:t>。只要有一个条件满足，则会</a:t>
            </a:r>
            <a:r>
              <a:rPr lang="zh-CN" altLang="en-US" dirty="0" smtClean="0"/>
              <a:t>执行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562" y="3645024"/>
            <a:ext cx="6238875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720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AOF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保存策略</a:t>
            </a:r>
            <a:endParaRPr kumimoji="1" lang="en-US" altLang="zh-CN" dirty="0" smtClean="0"/>
          </a:p>
          <a:p>
            <a:pPr lvl="1"/>
            <a:r>
              <a:rPr lang="en-US" altLang="zh-CN" dirty="0"/>
              <a:t>always</a:t>
            </a:r>
            <a:r>
              <a:rPr lang="zh-CN" altLang="en-US" dirty="0"/>
              <a:t>：每一条</a:t>
            </a:r>
            <a:r>
              <a:rPr lang="en-US" altLang="zh-CN" dirty="0" err="1"/>
              <a:t>aof</a:t>
            </a:r>
            <a:r>
              <a:rPr lang="zh-CN" altLang="en-US" dirty="0"/>
              <a:t>记录都立即同步到文件，这是最安全的</a:t>
            </a:r>
            <a:r>
              <a:rPr lang="zh-CN" altLang="en-US" dirty="0" smtClean="0"/>
              <a:t>方式</a:t>
            </a:r>
            <a:endParaRPr lang="en-US" altLang="zh-CN" dirty="0" smtClean="0"/>
          </a:p>
          <a:p>
            <a:pPr lvl="1"/>
            <a:r>
              <a:rPr lang="en-US" altLang="zh-CN" dirty="0" err="1"/>
              <a:t>everysec</a:t>
            </a:r>
            <a:r>
              <a:rPr lang="en-US" altLang="zh-CN" dirty="0"/>
              <a:t>(</a:t>
            </a:r>
            <a:r>
              <a:rPr lang="zh-CN" altLang="en-US" dirty="0"/>
              <a:t>推荐</a:t>
            </a:r>
            <a:r>
              <a:rPr lang="en-US" altLang="zh-CN" dirty="0"/>
              <a:t>)</a:t>
            </a:r>
            <a:r>
              <a:rPr lang="zh-CN" altLang="en-US" dirty="0"/>
              <a:t>：每秒同步一次</a:t>
            </a:r>
          </a:p>
          <a:p>
            <a:pPr lvl="1"/>
            <a:r>
              <a:rPr lang="en-US" altLang="zh-CN" dirty="0"/>
              <a:t>no</a:t>
            </a:r>
            <a:r>
              <a:rPr lang="zh-CN" altLang="en-US" dirty="0"/>
              <a:t>：</a:t>
            </a:r>
            <a:r>
              <a:rPr lang="en-US" altLang="zh-CN" dirty="0" err="1"/>
              <a:t>redis</a:t>
            </a:r>
            <a:r>
              <a:rPr lang="zh-CN" altLang="en-US" dirty="0"/>
              <a:t>并不直接调用文件同步，而是交给操作系统来处理，操作系统可以根据</a:t>
            </a:r>
            <a:r>
              <a:rPr lang="en-US" altLang="zh-CN" dirty="0"/>
              <a:t>buffer</a:t>
            </a:r>
            <a:r>
              <a:rPr lang="zh-CN" altLang="en-US" dirty="0"/>
              <a:t>填充情况</a:t>
            </a:r>
            <a:r>
              <a:rPr lang="en-US" altLang="zh-CN" dirty="0"/>
              <a:t>/</a:t>
            </a:r>
            <a:r>
              <a:rPr lang="zh-CN" altLang="en-US" dirty="0"/>
              <a:t>通道空闲时间等择机触发</a:t>
            </a:r>
            <a:r>
              <a:rPr lang="zh-CN" altLang="en-US" dirty="0" smtClean="0"/>
              <a:t>同步</a:t>
            </a:r>
            <a:endParaRPr lang="zh-CN" altLang="en-US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653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AOF</a:t>
            </a:r>
            <a:r>
              <a:rPr lang="zh-CN" altLang="en-US" b="1" dirty="0"/>
              <a:t>重写</a:t>
            </a:r>
            <a:r>
              <a:rPr lang="zh-CN" altLang="en-US" b="1" dirty="0" smtClean="0"/>
              <a:t>缓冲区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 err="1"/>
              <a:t>redis</a:t>
            </a:r>
            <a:r>
              <a:rPr lang="zh-CN" altLang="en-US" dirty="0"/>
              <a:t>服务器用子进程完成</a:t>
            </a:r>
            <a:r>
              <a:rPr lang="en-US" altLang="zh-CN" dirty="0"/>
              <a:t>AOF</a:t>
            </a:r>
            <a:r>
              <a:rPr lang="zh-CN" altLang="en-US" dirty="0"/>
              <a:t>文件重写，不会阻塞主进程。此时会有一个问题，重写过程中，新的写命令怎么处理</a:t>
            </a:r>
            <a:r>
              <a:rPr lang="zh-CN" altLang="en-US" dirty="0" smtClean="0"/>
              <a:t>？</a:t>
            </a:r>
            <a:endParaRPr lang="en-US" altLang="zh-CN" dirty="0"/>
          </a:p>
          <a:p>
            <a:pPr lvl="1"/>
            <a:r>
              <a:rPr lang="zh-CN" altLang="en-US" dirty="0" smtClean="0"/>
              <a:t>子</a:t>
            </a:r>
            <a:r>
              <a:rPr lang="zh-CN" altLang="en-US" dirty="0"/>
              <a:t>进程重写</a:t>
            </a:r>
            <a:r>
              <a:rPr lang="en-US" altLang="zh-CN" dirty="0"/>
              <a:t>AOF</a:t>
            </a:r>
            <a:r>
              <a:rPr lang="zh-CN" altLang="en-US" dirty="0"/>
              <a:t>时，主进程的命令会写入重写缓冲区。</a:t>
            </a:r>
          </a:p>
          <a:p>
            <a:pPr lvl="1"/>
            <a:r>
              <a:rPr lang="zh-CN" altLang="en-US" dirty="0" smtClean="0"/>
              <a:t>当</a:t>
            </a:r>
            <a:r>
              <a:rPr lang="zh-CN" altLang="en-US" dirty="0"/>
              <a:t>重写完成时，会向主进程请求缓冲区，追加到新的</a:t>
            </a:r>
            <a:r>
              <a:rPr lang="en-US" altLang="zh-CN" dirty="0"/>
              <a:t>AOF</a:t>
            </a:r>
            <a:r>
              <a:rPr lang="zh-CN" altLang="en-US" dirty="0"/>
              <a:t>文件。</a:t>
            </a:r>
          </a:p>
          <a:p>
            <a:pPr lvl="1"/>
            <a:r>
              <a:rPr lang="zh-CN" altLang="en-US" dirty="0" smtClean="0"/>
              <a:t>追加</a:t>
            </a:r>
            <a:r>
              <a:rPr lang="zh-CN" altLang="en-US" dirty="0"/>
              <a:t>后，原子性的覆盖原</a:t>
            </a:r>
            <a:r>
              <a:rPr lang="en-US" altLang="zh-CN" dirty="0"/>
              <a:t>AOF</a:t>
            </a:r>
            <a:r>
              <a:rPr lang="zh-CN" altLang="en-US" dirty="0"/>
              <a:t>文件</a:t>
            </a:r>
            <a:r>
              <a:rPr lang="zh-CN" altLang="en-US" dirty="0" smtClean="0"/>
              <a:t>。</a:t>
            </a:r>
            <a:endParaRPr lang="en-US" altLang="zh-CN" dirty="0"/>
          </a:p>
          <a:p>
            <a:pPr lvl="1"/>
            <a:endParaRPr lang="zh-CN" altLang="en-US" dirty="0"/>
          </a:p>
          <a:p>
            <a:r>
              <a:rPr lang="zh-CN" altLang="en-US" dirty="0" smtClean="0"/>
              <a:t>请求</a:t>
            </a:r>
            <a:r>
              <a:rPr lang="zh-CN" altLang="en-US" dirty="0"/>
              <a:t>缓冲区到覆盖过程，会阻塞父进程。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5506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Data Structure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SDS</a:t>
            </a:r>
          </a:p>
          <a:p>
            <a:pPr lvl="1"/>
            <a:r>
              <a:rPr lang="zh-CN" altLang="en-US" dirty="0"/>
              <a:t> </a:t>
            </a:r>
            <a:r>
              <a:rPr lang="en-US" altLang="zh-CN" dirty="0" err="1" smtClean="0"/>
              <a:t>len</a:t>
            </a:r>
            <a:r>
              <a:rPr lang="zh-CN" altLang="en-US" dirty="0" smtClean="0"/>
              <a:t> </a:t>
            </a:r>
            <a:r>
              <a:rPr lang="en-US" altLang="zh-CN" dirty="0" smtClean="0"/>
              <a:t>+</a:t>
            </a:r>
            <a:r>
              <a:rPr lang="zh-CN" altLang="en-US" dirty="0" smtClean="0"/>
              <a:t> </a:t>
            </a:r>
            <a:r>
              <a:rPr lang="en-US" altLang="zh-CN" dirty="0" smtClean="0"/>
              <a:t>free</a:t>
            </a:r>
            <a:r>
              <a:rPr lang="zh-CN" altLang="en-US" dirty="0" smtClean="0"/>
              <a:t> </a:t>
            </a:r>
            <a:r>
              <a:rPr lang="en-US" altLang="zh-CN" dirty="0" smtClean="0"/>
              <a:t>+</a:t>
            </a:r>
            <a:r>
              <a:rPr lang="zh-CN" altLang="en-US" dirty="0" smtClean="0"/>
              <a:t> </a:t>
            </a:r>
            <a:r>
              <a:rPr lang="en-US" altLang="zh-CN" dirty="0" smtClean="0"/>
              <a:t>char[]</a:t>
            </a:r>
          </a:p>
          <a:p>
            <a:pPr lvl="1"/>
            <a:r>
              <a:rPr lang="zh-CN" altLang="en-US" dirty="0" smtClean="0"/>
              <a:t>仍以</a:t>
            </a:r>
            <a:r>
              <a:rPr lang="en-US" altLang="zh-CN" dirty="0" smtClean="0"/>
              <a:t>\0</a:t>
            </a:r>
            <a:r>
              <a:rPr lang="zh-CN" altLang="en-US" dirty="0" smtClean="0"/>
              <a:t>结尾？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和</a:t>
            </a:r>
            <a:r>
              <a:rPr lang="en-US" altLang="zh-CN" dirty="0" smtClean="0"/>
              <a:t>c</a:t>
            </a:r>
            <a:r>
              <a:rPr lang="zh-CN" altLang="en-US" dirty="0" smtClean="0"/>
              <a:t>字符串比较的优点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预扩充与懒回收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658445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Data Structure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Sorted set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11560" y="2420888"/>
            <a:ext cx="73448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• </a:t>
            </a:r>
            <a:r>
              <a:rPr lang="zh-CN" altLang="en-US" sz="2400" dirty="0"/>
              <a:t>元素的</a:t>
            </a:r>
            <a:r>
              <a:rPr lang="en-US" altLang="zh-CN" sz="2400" dirty="0"/>
              <a:t>member </a:t>
            </a:r>
            <a:r>
              <a:rPr lang="zh-CN" altLang="en-US" sz="2400" dirty="0"/>
              <a:t>长度小于服务器属性</a:t>
            </a:r>
            <a:r>
              <a:rPr lang="en-US" altLang="zh-CN" sz="2400" dirty="0" err="1"/>
              <a:t>server.zset_max_ziplist_value</a:t>
            </a:r>
            <a:r>
              <a:rPr lang="en-US" altLang="zh-CN" sz="2400" dirty="0"/>
              <a:t> </a:t>
            </a:r>
            <a:r>
              <a:rPr lang="zh-CN" altLang="en-US" sz="2400" dirty="0"/>
              <a:t>的值（默认为</a:t>
            </a:r>
            <a:r>
              <a:rPr lang="en-US" altLang="zh-CN" sz="2400" dirty="0" smtClean="0"/>
              <a:t>64</a:t>
            </a:r>
            <a:r>
              <a:rPr lang="zh-CN" altLang="en-US" sz="2400" dirty="0" smtClean="0"/>
              <a:t>）</a:t>
            </a:r>
            <a:r>
              <a:rPr lang="zh-CN" altLang="en-US" sz="2400" dirty="0"/>
              <a:t>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11560" y="3543825"/>
            <a:ext cx="7920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• </a:t>
            </a:r>
            <a:r>
              <a:rPr lang="en-US" altLang="zh-CN" sz="2400" dirty="0" err="1"/>
              <a:t>ziplist</a:t>
            </a:r>
            <a:r>
              <a:rPr lang="en-US" altLang="zh-CN" sz="2400" dirty="0"/>
              <a:t> </a:t>
            </a:r>
            <a:r>
              <a:rPr lang="zh-CN" altLang="en-US" sz="2400" dirty="0"/>
              <a:t>所保存的元素数量超过服务器属性</a:t>
            </a:r>
            <a:r>
              <a:rPr lang="en-US" altLang="zh-CN" sz="2400" dirty="0" err="1"/>
              <a:t>server.zset_max_ziplist_entries</a:t>
            </a:r>
            <a:r>
              <a:rPr lang="en-US" altLang="zh-CN" sz="2400" dirty="0"/>
              <a:t> </a:t>
            </a:r>
            <a:r>
              <a:rPr lang="zh-CN" altLang="en-US" sz="2400" dirty="0"/>
              <a:t>的</a:t>
            </a:r>
            <a:r>
              <a:rPr lang="zh-CN" altLang="en-US" sz="2400" dirty="0" smtClean="0"/>
              <a:t>值（</a:t>
            </a:r>
            <a:r>
              <a:rPr lang="zh-CN" altLang="en-US" sz="2400" dirty="0"/>
              <a:t>默认值为</a:t>
            </a:r>
            <a:r>
              <a:rPr lang="en-US" altLang="zh-CN" sz="2400" dirty="0"/>
              <a:t>128 </a:t>
            </a:r>
            <a:r>
              <a:rPr lang="zh-CN" altLang="en-US" sz="2400" dirty="0"/>
              <a:t>）</a:t>
            </a:r>
          </a:p>
          <a:p>
            <a:r>
              <a:rPr lang="en-US" altLang="zh-CN" sz="2400" dirty="0"/>
              <a:t>• </a:t>
            </a:r>
            <a:r>
              <a:rPr lang="zh-CN" altLang="en-US" sz="2400" dirty="0"/>
              <a:t>新添加元素的</a:t>
            </a:r>
            <a:r>
              <a:rPr lang="en-US" altLang="zh-CN" sz="2400" dirty="0"/>
              <a:t>member </a:t>
            </a:r>
            <a:r>
              <a:rPr lang="zh-CN" altLang="en-US" sz="2400" dirty="0"/>
              <a:t>的长度大于服务器属性</a:t>
            </a:r>
            <a:r>
              <a:rPr lang="en-US" altLang="zh-CN" sz="2400" dirty="0" err="1"/>
              <a:t>server.zset_max_ziplist_value</a:t>
            </a:r>
            <a:r>
              <a:rPr lang="en-US" altLang="zh-CN" sz="2400" dirty="0"/>
              <a:t> </a:t>
            </a:r>
            <a:r>
              <a:rPr lang="zh-CN" altLang="en-US" sz="2400" dirty="0"/>
              <a:t>的</a:t>
            </a:r>
            <a:r>
              <a:rPr lang="zh-CN" altLang="en-US" sz="2400" dirty="0" smtClean="0"/>
              <a:t>值（</a:t>
            </a:r>
            <a:r>
              <a:rPr lang="zh-CN" altLang="en-US" sz="2400" dirty="0"/>
              <a:t>默认值为</a:t>
            </a:r>
            <a:r>
              <a:rPr lang="en-US" altLang="zh-CN" sz="2400" dirty="0"/>
              <a:t>64 </a:t>
            </a:r>
            <a:r>
              <a:rPr lang="zh-CN" altLang="en-US" sz="2400" dirty="0"/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ziplist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List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/>
              <a:t>node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68" y="2276872"/>
            <a:ext cx="8460432" cy="59835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17848"/>
            <a:ext cx="5501530" cy="7352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ym typeface="Wingdings" panose="05000000000000000000" pitchFamily="2" charset="2"/>
              </a:rPr>
              <a:t>Insert : O(N</a:t>
            </a:r>
            <a:r>
              <a:rPr lang="en-US" altLang="zh-CN" baseline="30000" dirty="0" smtClean="0">
                <a:sym typeface="Wingdings" panose="05000000000000000000" pitchFamily="2" charset="2"/>
              </a:rPr>
              <a:t>2</a:t>
            </a:r>
            <a:r>
              <a:rPr lang="en-US" altLang="zh-CN" dirty="0" smtClean="0">
                <a:sym typeface="Wingdings" panose="05000000000000000000" pitchFamily="2" charset="2"/>
              </a:rPr>
              <a:t>)</a:t>
            </a:r>
          </a:p>
          <a:p>
            <a:r>
              <a:rPr lang="en-US" altLang="zh-CN" dirty="0" smtClean="0">
                <a:sym typeface="Wingdings" panose="05000000000000000000" pitchFamily="2" charset="2"/>
              </a:rPr>
              <a:t>Search : O(N)</a:t>
            </a:r>
          </a:p>
          <a:p>
            <a:r>
              <a:rPr lang="en-US" altLang="zh-CN" dirty="0" smtClean="0"/>
              <a:t>Space : O(N)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4362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ziplist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Store key-value with less memory cost</a:t>
            </a:r>
          </a:p>
          <a:p>
            <a:r>
              <a:rPr lang="en-US" altLang="zh-CN" dirty="0" smtClean="0"/>
              <a:t>10millions key-values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43608" y="3140968"/>
            <a:ext cx="67687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Step1: SHA1 key.</a:t>
            </a:r>
          </a:p>
          <a:p>
            <a:r>
              <a:rPr lang="en-US" altLang="zh-CN" dirty="0" smtClean="0"/>
              <a:t>Step2: take the first four digitals as </a:t>
            </a:r>
            <a:r>
              <a:rPr lang="en-US" altLang="zh-CN" dirty="0"/>
              <a:t>new key (65536 </a:t>
            </a:r>
            <a:r>
              <a:rPr lang="en-US" altLang="zh-CN" dirty="0" smtClean="0"/>
              <a:t> at most)</a:t>
            </a:r>
          </a:p>
          <a:p>
            <a:r>
              <a:rPr lang="en-US" altLang="zh-CN" dirty="0" smtClean="0"/>
              <a:t>Step3: hash to </a:t>
            </a:r>
            <a:r>
              <a:rPr lang="en-US" altLang="zh-CN" dirty="0" err="1" smtClean="0"/>
              <a:t>hashtable</a:t>
            </a:r>
            <a:r>
              <a:rPr lang="en-US" altLang="zh-CN" dirty="0" smtClean="0"/>
              <a:t> by new key</a:t>
            </a:r>
          </a:p>
          <a:p>
            <a:r>
              <a:rPr lang="en-US" altLang="zh-CN" dirty="0" smtClean="0"/>
              <a:t>Step4: insert</a:t>
            </a:r>
          </a:p>
          <a:p>
            <a:endParaRPr lang="en-US" altLang="zh-CN" dirty="0"/>
          </a:p>
          <a:p>
            <a:r>
              <a:rPr lang="en-US" altLang="zh-CN" dirty="0" smtClean="0"/>
              <a:t>e.g.</a:t>
            </a:r>
          </a:p>
          <a:p>
            <a:r>
              <a:rPr lang="en-US" altLang="zh-CN" dirty="0" smtClean="0"/>
              <a:t>Step1: SHA1 </a:t>
            </a:r>
            <a:r>
              <a:rPr lang="en-US" altLang="zh-CN" dirty="0"/>
              <a:t>“key1” = </a:t>
            </a:r>
            <a:r>
              <a:rPr lang="en-US" altLang="zh-CN" dirty="0" smtClean="0"/>
              <a:t>1073ab6cda4b991cd29f9e83a307f34004ae9327</a:t>
            </a:r>
          </a:p>
          <a:p>
            <a:r>
              <a:rPr lang="en-US" altLang="zh-CN" dirty="0" smtClean="0"/>
              <a:t>Step2: new key = 1073</a:t>
            </a:r>
          </a:p>
          <a:p>
            <a:r>
              <a:rPr lang="en-US" altLang="zh-CN" dirty="0" smtClean="0"/>
              <a:t>Step3: find the </a:t>
            </a:r>
            <a:r>
              <a:rPr lang="en-US" altLang="zh-CN" dirty="0" err="1" smtClean="0"/>
              <a:t>hashtable</a:t>
            </a:r>
            <a:r>
              <a:rPr lang="en-US" altLang="zh-CN" dirty="0" smtClean="0"/>
              <a:t> with key 1073</a:t>
            </a:r>
          </a:p>
          <a:p>
            <a:r>
              <a:rPr lang="en-US" altLang="zh-CN" dirty="0" smtClean="0"/>
              <a:t>Step: insert into </a:t>
            </a:r>
            <a:r>
              <a:rPr lang="en-US" altLang="zh-CN" dirty="0" err="1" smtClean="0"/>
              <a:t>hashtable</a:t>
            </a:r>
            <a:r>
              <a:rPr lang="en-US" altLang="zh-CN" dirty="0" smtClean="0"/>
              <a:t> 1073 with &lt;key1, value1&gt;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9296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ziplist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547" y="1409388"/>
            <a:ext cx="7734300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59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skiplist</a:t>
            </a:r>
            <a:endParaRPr lang="zh-CN" altLang="en-US" dirty="0"/>
          </a:p>
        </p:txBody>
      </p:sp>
      <p:pic>
        <p:nvPicPr>
          <p:cNvPr id="1026" name="Picture 2" descr="http://www.spongeliu.com/wp-content/uploads/2010/09/2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2143116"/>
            <a:ext cx="7439025" cy="26384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ym typeface="Wingdings" panose="05000000000000000000" pitchFamily="2" charset="2"/>
              </a:rPr>
              <a:t>Insert : O(</a:t>
            </a:r>
            <a:r>
              <a:rPr lang="en-US" altLang="zh-CN" dirty="0" err="1" smtClean="0">
                <a:sym typeface="Wingdings" panose="05000000000000000000" pitchFamily="2" charset="2"/>
              </a:rPr>
              <a:t>logN</a:t>
            </a:r>
            <a:r>
              <a:rPr lang="en-US" altLang="zh-CN" dirty="0" smtClean="0">
                <a:sym typeface="Wingdings" panose="05000000000000000000" pitchFamily="2" charset="2"/>
              </a:rPr>
              <a:t>)</a:t>
            </a:r>
          </a:p>
          <a:p>
            <a:r>
              <a:rPr lang="en-US" altLang="zh-CN" dirty="0" smtClean="0">
                <a:sym typeface="Wingdings" panose="05000000000000000000" pitchFamily="2" charset="2"/>
              </a:rPr>
              <a:t>Search : O(</a:t>
            </a:r>
            <a:r>
              <a:rPr lang="en-US" altLang="zh-CN" dirty="0" err="1" smtClean="0">
                <a:sym typeface="Wingdings" panose="05000000000000000000" pitchFamily="2" charset="2"/>
              </a:rPr>
              <a:t>logN</a:t>
            </a:r>
            <a:r>
              <a:rPr lang="en-US" altLang="zh-CN" dirty="0" smtClean="0">
                <a:sym typeface="Wingdings" panose="05000000000000000000" pitchFamily="2" charset="2"/>
              </a:rPr>
              <a:t>)</a:t>
            </a:r>
          </a:p>
          <a:p>
            <a:r>
              <a:rPr lang="en-US" altLang="zh-CN" dirty="0" smtClean="0"/>
              <a:t>Space : O(N)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optimistic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Sorted</a:t>
            </a:r>
            <a:r>
              <a:rPr lang="zh-CN" altLang="en-US" dirty="0" smtClean="0"/>
              <a:t> </a:t>
            </a:r>
            <a:r>
              <a:rPr lang="en-US" altLang="zh-CN" dirty="0" smtClean="0"/>
              <a:t>Set</a:t>
            </a:r>
            <a:r>
              <a:rPr lang="zh-CN" altLang="en-US" dirty="0" smtClean="0"/>
              <a:t> </a:t>
            </a:r>
            <a:r>
              <a:rPr lang="en-US" altLang="zh-CN" dirty="0" smtClean="0"/>
              <a:t>=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skiplist</a:t>
            </a:r>
            <a:r>
              <a:rPr lang="zh-CN" altLang="en-US" dirty="0" smtClean="0"/>
              <a:t> </a:t>
            </a:r>
            <a:r>
              <a:rPr lang="en-US" altLang="zh-CN" dirty="0" smtClean="0"/>
              <a:t>+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hashtable</a:t>
            </a:r>
            <a:r>
              <a:rPr lang="zh-CN" altLang="en-US" dirty="0" smtClean="0"/>
              <a:t> </a:t>
            </a:r>
            <a:r>
              <a:rPr lang="en-US" altLang="zh-CN" dirty="0" smtClean="0"/>
              <a:t>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7766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Implement(expire)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11560" y="1600200"/>
            <a:ext cx="32403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typedef</a:t>
            </a:r>
            <a:r>
              <a:rPr lang="en-US" altLang="zh-CN" b="1" dirty="0"/>
              <a:t> </a:t>
            </a:r>
            <a:r>
              <a:rPr lang="en-US" altLang="zh-CN" b="1" dirty="0" err="1"/>
              <a:t>struct</a:t>
            </a:r>
            <a:r>
              <a:rPr lang="en-US" altLang="zh-CN" b="1" dirty="0"/>
              <a:t> </a:t>
            </a:r>
            <a:r>
              <a:rPr lang="en-US" altLang="zh-CN" dirty="0" err="1"/>
              <a:t>redisDb</a:t>
            </a:r>
            <a:r>
              <a:rPr lang="en-US" altLang="zh-CN" dirty="0"/>
              <a:t> {</a:t>
            </a:r>
          </a:p>
          <a:p>
            <a:r>
              <a:rPr lang="en-US" altLang="zh-CN" i="1" dirty="0"/>
              <a:t>// ...</a:t>
            </a:r>
          </a:p>
          <a:p>
            <a:r>
              <a:rPr lang="en-US" altLang="zh-CN" dirty="0" err="1"/>
              <a:t>dict</a:t>
            </a:r>
            <a:r>
              <a:rPr lang="en-US" altLang="zh-CN" dirty="0"/>
              <a:t> *expires;</a:t>
            </a:r>
          </a:p>
          <a:p>
            <a:r>
              <a:rPr lang="en-US" altLang="zh-CN" i="1" dirty="0"/>
              <a:t>// ...</a:t>
            </a:r>
          </a:p>
          <a:p>
            <a:r>
              <a:rPr lang="en-US" altLang="zh-CN" dirty="0"/>
              <a:t>} </a:t>
            </a:r>
            <a:r>
              <a:rPr lang="en-US" altLang="zh-CN" dirty="0" err="1"/>
              <a:t>redisDb</a:t>
            </a:r>
            <a:r>
              <a:rPr lang="en-US" altLang="zh-CN" dirty="0"/>
              <a:t>;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808" y="1438433"/>
            <a:ext cx="6057900" cy="39147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78248" y="3789040"/>
            <a:ext cx="2664296" cy="222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惰性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定期删除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Implement(watch)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39" y="1844824"/>
            <a:ext cx="8553561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839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Event</a:t>
            </a:r>
            <a:endParaRPr lang="zh-CN" altLang="en-US" dirty="0"/>
          </a:p>
        </p:txBody>
      </p:sp>
      <p:pic>
        <p:nvPicPr>
          <p:cNvPr id="4" name="内容占位符 3" descr="061136401429881.pn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14480" y="1571612"/>
            <a:ext cx="5390477" cy="4066667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Event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时间事件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单次执行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循环执行</a:t>
            </a:r>
            <a:endParaRPr lang="en-US" altLang="zh-CN" dirty="0" smtClean="0"/>
          </a:p>
          <a:p>
            <a:r>
              <a:rPr lang="zh-CN" altLang="en-US" dirty="0" smtClean="0"/>
              <a:t>文件事件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读事件</a:t>
            </a:r>
            <a:endParaRPr lang="en-US" altLang="zh-CN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en-US" dirty="0" smtClean="0"/>
              <a:t>写事件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Event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1986" name="Picture 2" descr="http://img.my.csdn.net/uploads/201303/17/1363497218_5125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1500174"/>
            <a:ext cx="7172325" cy="49434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Event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等待时间由最近的时间事件决定</a:t>
            </a:r>
            <a:endParaRPr lang="en-US" altLang="zh-CN" dirty="0" smtClean="0"/>
          </a:p>
          <a:p>
            <a:r>
              <a:rPr lang="zh-CN" altLang="en-US" dirty="0" smtClean="0"/>
              <a:t>文件事件先执行，时间事件后执行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EPOLL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非阻塞轮询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while true {</a:t>
            </a:r>
          </a:p>
          <a:p>
            <a:pPr marL="0" indent="0">
              <a:buNone/>
            </a:pPr>
            <a:r>
              <a:rPr lang="en-US" altLang="zh-CN" dirty="0"/>
              <a:t>    for </a:t>
            </a:r>
            <a:r>
              <a:rPr lang="en-US" altLang="zh-CN" dirty="0" err="1"/>
              <a:t>i</a:t>
            </a:r>
            <a:r>
              <a:rPr lang="en-US" altLang="zh-CN" dirty="0"/>
              <a:t> in stream</a:t>
            </a:r>
            <a:r>
              <a:rPr lang="en-US" altLang="zh-CN" dirty="0" smtClean="0"/>
              <a:t>[]{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if </a:t>
            </a:r>
            <a:r>
              <a:rPr lang="en-US" altLang="zh-CN" dirty="0" err="1"/>
              <a:t>i</a:t>
            </a:r>
            <a:r>
              <a:rPr lang="en-US" altLang="zh-CN" dirty="0"/>
              <a:t> has data</a:t>
            </a:r>
          </a:p>
          <a:p>
            <a:pPr marL="0" indent="0">
              <a:buNone/>
            </a:pPr>
            <a:r>
              <a:rPr lang="en-US" altLang="zh-CN" dirty="0"/>
              <a:t>            read until unavailable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6622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EPOLL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 smtClean="0"/>
              <a:t>SELECT</a:t>
            </a:r>
            <a:r>
              <a:rPr lang="zh-CN" altLang="en-US" dirty="0" smtClean="0"/>
              <a:t>模式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while true {</a:t>
            </a:r>
          </a:p>
          <a:p>
            <a:pPr marL="0" indent="0">
              <a:buNone/>
            </a:pPr>
            <a:r>
              <a:rPr lang="en-US" altLang="zh-CN" dirty="0"/>
              <a:t>    select(streams[])</a:t>
            </a:r>
          </a:p>
          <a:p>
            <a:pPr marL="0" indent="0">
              <a:buNone/>
            </a:pPr>
            <a:r>
              <a:rPr lang="en-US" altLang="zh-CN" dirty="0"/>
              <a:t>    for </a:t>
            </a:r>
            <a:r>
              <a:rPr lang="en-US" altLang="zh-CN" dirty="0" err="1"/>
              <a:t>i</a:t>
            </a:r>
            <a:r>
              <a:rPr lang="en-US" altLang="zh-CN" dirty="0"/>
              <a:t> in streams[] {</a:t>
            </a:r>
          </a:p>
          <a:p>
            <a:pPr marL="0" indent="0">
              <a:buNone/>
            </a:pPr>
            <a:r>
              <a:rPr lang="en-US" altLang="zh-CN" dirty="0"/>
              <a:t>        if </a:t>
            </a:r>
            <a:r>
              <a:rPr lang="en-US" altLang="zh-CN" dirty="0" err="1"/>
              <a:t>i</a:t>
            </a:r>
            <a:r>
              <a:rPr lang="en-US" altLang="zh-CN" dirty="0"/>
              <a:t> has data</a:t>
            </a:r>
          </a:p>
          <a:p>
            <a:pPr marL="0" indent="0">
              <a:buNone/>
            </a:pPr>
            <a:r>
              <a:rPr lang="en-US" altLang="zh-CN" dirty="0"/>
              <a:t>            read until unavailable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13423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EPOLL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EPOLL</a:t>
            </a:r>
            <a:r>
              <a:rPr lang="zh-CN" altLang="en-US" dirty="0" smtClean="0"/>
              <a:t>模式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while </a:t>
            </a:r>
            <a:r>
              <a:rPr lang="en-US" altLang="zh-CN" dirty="0"/>
              <a:t>true {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active_stream</a:t>
            </a:r>
            <a:r>
              <a:rPr lang="en-US" altLang="zh-CN" dirty="0"/>
              <a:t>[] = </a:t>
            </a:r>
            <a:r>
              <a:rPr lang="en-US" altLang="zh-CN" dirty="0" err="1"/>
              <a:t>epoll_wait</a:t>
            </a:r>
            <a:r>
              <a:rPr lang="en-US" altLang="zh-CN" dirty="0"/>
              <a:t>(</a:t>
            </a:r>
            <a:r>
              <a:rPr lang="en-US" altLang="zh-CN" dirty="0" err="1"/>
              <a:t>epollfd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en-US" altLang="zh-CN" dirty="0"/>
              <a:t>    for </a:t>
            </a:r>
            <a:r>
              <a:rPr lang="en-US" altLang="zh-CN" dirty="0" err="1"/>
              <a:t>i</a:t>
            </a:r>
            <a:r>
              <a:rPr lang="en-US" altLang="zh-CN" dirty="0"/>
              <a:t> in </a:t>
            </a:r>
            <a:r>
              <a:rPr lang="en-US" altLang="zh-CN" dirty="0" err="1"/>
              <a:t>active_stream</a:t>
            </a:r>
            <a:r>
              <a:rPr lang="en-US" altLang="zh-CN" dirty="0"/>
              <a:t>[] {</a:t>
            </a:r>
          </a:p>
          <a:p>
            <a:pPr marL="0" indent="0">
              <a:buNone/>
            </a:pPr>
            <a:r>
              <a:rPr lang="en-US" altLang="zh-CN" dirty="0"/>
              <a:t>        read or write till</a:t>
            </a:r>
          </a:p>
          <a:p>
            <a:pPr marL="0" indent="0">
              <a:buNone/>
            </a:pPr>
            <a:r>
              <a:rPr lang="en-US" altLang="zh-CN" dirty="0"/>
              <a:t>    }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2276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1858</Words>
  <Application>Microsoft Macintosh PowerPoint</Application>
  <PresentationFormat>全屏显示(4:3)</PresentationFormat>
  <Paragraphs>298</Paragraphs>
  <Slides>38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5" baseType="lpstr">
      <vt:lpstr>Calibri</vt:lpstr>
      <vt:lpstr>Mangal</vt:lpstr>
      <vt:lpstr>Wingdings</vt:lpstr>
      <vt:lpstr>宋体</vt:lpstr>
      <vt:lpstr>微软雅黑</vt:lpstr>
      <vt:lpstr>Arial</vt:lpstr>
      <vt:lpstr>Office 主题</vt:lpstr>
      <vt:lpstr>Redis</vt:lpstr>
      <vt:lpstr>Commands</vt:lpstr>
      <vt:lpstr>sorted set</vt:lpstr>
      <vt:lpstr>sort</vt:lpstr>
      <vt:lpstr>transaction</vt:lpstr>
      <vt:lpstr>transaction</vt:lpstr>
      <vt:lpstr>Application</vt:lpstr>
      <vt:lpstr>Message </vt:lpstr>
      <vt:lpstr>Message </vt:lpstr>
      <vt:lpstr>Message </vt:lpstr>
      <vt:lpstr>Message </vt:lpstr>
      <vt:lpstr>Concurrency problem</vt:lpstr>
      <vt:lpstr>Design</vt:lpstr>
      <vt:lpstr>DATABASE</vt:lpstr>
      <vt:lpstr>PERSISTANCE</vt:lpstr>
      <vt:lpstr>RDB</vt:lpstr>
      <vt:lpstr>RDB</vt:lpstr>
      <vt:lpstr>RDB</vt:lpstr>
      <vt:lpstr>AOF</vt:lpstr>
      <vt:lpstr>AOF重写缓冲区</vt:lpstr>
      <vt:lpstr>Data Structure</vt:lpstr>
      <vt:lpstr>Data Structure</vt:lpstr>
      <vt:lpstr>ziplist</vt:lpstr>
      <vt:lpstr>O</vt:lpstr>
      <vt:lpstr>ziplist</vt:lpstr>
      <vt:lpstr>ziplist</vt:lpstr>
      <vt:lpstr>skiplist</vt:lpstr>
      <vt:lpstr>O</vt:lpstr>
      <vt:lpstr>optimistic</vt:lpstr>
      <vt:lpstr>Implement(expire)</vt:lpstr>
      <vt:lpstr>Implement(watch)</vt:lpstr>
      <vt:lpstr>Event</vt:lpstr>
      <vt:lpstr>Event</vt:lpstr>
      <vt:lpstr>Event</vt:lpstr>
      <vt:lpstr>Event</vt:lpstr>
      <vt:lpstr>EPOLL</vt:lpstr>
      <vt:lpstr>EPOLL</vt:lpstr>
      <vt:lpstr>EPOLL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redis</dc:title>
  <dc:creator>pc</dc:creator>
  <cp:lastModifiedBy>Microsoft Office 用户</cp:lastModifiedBy>
  <cp:revision>151</cp:revision>
  <dcterms:created xsi:type="dcterms:W3CDTF">2016-08-29T15:36:00Z</dcterms:created>
  <dcterms:modified xsi:type="dcterms:W3CDTF">2018-03-23T09:14:50Z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2052-10.1.0.5866</vt:lpwstr>
  </property>
</Properties>
</file>